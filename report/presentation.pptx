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43B13"/>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FFFFFF"/>
                </a:solidFill>
                <a:latin typeface="Arial"/>
              </a:rPr>
              <a:t>2026-4A-IABD · (Deep) Reinforcement Learning P1</a:t>
            </a:r>
          </a:p>
        </p:txBody>
      </p:sp>
      <p:sp>
        <p:nvSpPr>
          <p:cNvPr id="3" name="TextBox 2"/>
          <p:cNvSpPr txBox="1"/>
          <p:nvPr/>
        </p:nvSpPr>
        <p:spPr>
          <a:xfrm>
            <a:off x="502920" y="1417320"/>
            <a:ext cx="8138160" cy="2194560"/>
          </a:xfrm>
          <a:prstGeom prst="rect">
            <a:avLst/>
          </a:prstGeom>
          <a:noFill/>
        </p:spPr>
        <p:txBody>
          <a:bodyPr wrap="square">
            <a:spAutoFit/>
          </a:bodyPr>
          <a:lstStyle/>
          <a:p>
            <a:pPr algn="l">
              <a:lnSpc>
                <a:spcPct val="105000"/>
              </a:lnSpc>
            </a:pPr>
            <a:r>
              <a:rPr sz="4000" b="1" i="0">
                <a:solidFill>
                  <a:srgbClr val="FFFFFF"/>
                </a:solidFill>
                <a:latin typeface="Arial"/>
              </a:rPr>
              <a:t>APPRENDRE À </a:t>
            </a:r>
          </a:p>
          <a:p>
            <a:pPr algn="l">
              <a:lnSpc>
                <a:spcPct val="105000"/>
              </a:lnSpc>
            </a:pPr>
            <a:r>
              <a:rPr sz="4000" b="0" i="1">
                <a:solidFill>
                  <a:srgbClr val="FFFFFF"/>
                </a:solidFill>
                <a:latin typeface="Georgia"/>
              </a:rPr>
              <a:t>décider</a:t>
            </a:r>
            <a:r>
              <a:rPr sz="4000" b="1" i="0">
                <a:solidFill>
                  <a:srgbClr val="FFFFFF"/>
                </a:solidFill>
                <a:latin typeface="Arial"/>
              </a:rPr>
              <a:t> PAR RENFORCEMENT</a:t>
            </a:r>
          </a:p>
        </p:txBody>
      </p:sp>
      <p:sp>
        <p:nvSpPr>
          <p:cNvPr id="4" name="TextBox 3"/>
          <p:cNvSpPr txBox="1"/>
          <p:nvPr/>
        </p:nvSpPr>
        <p:spPr>
          <a:xfrm>
            <a:off x="502920" y="3246120"/>
            <a:ext cx="8138160" cy="548640"/>
          </a:xfrm>
          <a:prstGeom prst="rect">
            <a:avLst/>
          </a:prstGeom>
          <a:noFill/>
        </p:spPr>
        <p:txBody>
          <a:bodyPr wrap="square">
            <a:spAutoFit/>
          </a:bodyPr>
          <a:lstStyle/>
          <a:p>
            <a:pPr algn="l">
              <a:lnSpc>
                <a:spcPct val="100000"/>
              </a:lnSpc>
            </a:pPr>
            <a:r>
              <a:rPr sz="1500" b="0" i="1">
                <a:solidFill>
                  <a:srgbClr val="FFFFFF"/>
                </a:solidFill>
                <a:latin typeface="Arial"/>
              </a:rPr>
              <a:t>Programmation dynamique, Monte Carlo, Temporal Difference Learning et Planning, testés sur cinq environnements avec huit algorithmes.</a:t>
            </a:r>
          </a:p>
        </p:txBody>
      </p:sp>
      <p:cxnSp>
        <p:nvCxnSpPr>
          <p:cNvPr id="5" name="Connector 4"/>
          <p:cNvCxnSpPr/>
          <p:nvPr/>
        </p:nvCxnSpPr>
        <p:spPr>
          <a:xfrm>
            <a:off x="502920" y="4572000"/>
            <a:ext cx="8138160" cy="0"/>
          </a:xfrm>
          <a:prstGeom prst="line">
            <a:avLst/>
          </a:prstGeom>
          <a:ln w="12700">
            <a:solidFill>
              <a:srgbClr val="FFFFFF"/>
            </a:solidFill>
          </a:ln>
        </p:spPr>
      </p:cxnSp>
      <p:sp>
        <p:nvSpPr>
          <p:cNvPr id="6" name="TextBox 5"/>
          <p:cNvSpPr txBox="1"/>
          <p:nvPr/>
        </p:nvSpPr>
        <p:spPr>
          <a:xfrm>
            <a:off x="502920" y="4645152"/>
            <a:ext cx="5943600" cy="320040"/>
          </a:xfrm>
          <a:prstGeom prst="rect">
            <a:avLst/>
          </a:prstGeom>
          <a:noFill/>
        </p:spPr>
        <p:txBody>
          <a:bodyPr wrap="square">
            <a:spAutoFit/>
          </a:bodyPr>
          <a:lstStyle/>
          <a:p>
            <a:pPr algn="l">
              <a:lnSpc>
                <a:spcPct val="100000"/>
              </a:lnSpc>
            </a:pPr>
            <a:r>
              <a:rPr sz="1000" b="0" i="0">
                <a:solidFill>
                  <a:srgbClr val="FFFFFF"/>
                </a:solidFill>
                <a:latin typeface="Arial"/>
              </a:rPr>
              <a:t>Mohamed Elyes Bahouri · Mathis Te · Olade Mac-Aurel Laourou Babalekon</a:t>
            </a:r>
          </a:p>
        </p:txBody>
      </p:sp>
      <p:sp>
        <p:nvSpPr>
          <p:cNvPr id="7" name="TextBox 6"/>
          <p:cNvSpPr txBox="1"/>
          <p:nvPr/>
        </p:nvSpPr>
        <p:spPr>
          <a:xfrm>
            <a:off x="7315200" y="4645152"/>
            <a:ext cx="1325880" cy="320040"/>
          </a:xfrm>
          <a:prstGeom prst="rect">
            <a:avLst/>
          </a:prstGeom>
          <a:noFill/>
        </p:spPr>
        <p:txBody>
          <a:bodyPr wrap="square">
            <a:spAutoFit/>
          </a:bodyPr>
          <a:lstStyle/>
          <a:p>
            <a:pPr algn="r">
              <a:lnSpc>
                <a:spcPct val="100000"/>
              </a:lnSpc>
            </a:pPr>
            <a:r>
              <a:rPr sz="1000" b="0" i="0">
                <a:solidFill>
                  <a:srgbClr val="FFFFFF"/>
                </a:solidFill>
                <a:latin typeface="Arial"/>
              </a:rPr>
              <a:t>Juillet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Introduction</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800" b="1" i="0">
                <a:solidFill>
                  <a:srgbClr val="252525"/>
                </a:solidFill>
                <a:latin typeface="Arial"/>
              </a:rPr>
              <a:t>OBJECTIF &amp; </a:t>
            </a:r>
            <a:r>
              <a:rPr sz="2800" b="0" i="1">
                <a:solidFill>
                  <a:srgbClr val="252525"/>
                </a:solidFill>
                <a:latin typeface="Georgia"/>
              </a:rPr>
              <a:t>méthodologie</a:t>
            </a:r>
          </a:p>
        </p:txBody>
      </p:sp>
      <p:cxnSp>
        <p:nvCxnSpPr>
          <p:cNvPr id="4" name="Connector 3"/>
          <p:cNvCxnSpPr/>
          <p:nvPr/>
        </p:nvCxnSpPr>
        <p:spPr>
          <a:xfrm>
            <a:off x="502920" y="1325880"/>
            <a:ext cx="8138160" cy="0"/>
          </a:xfrm>
          <a:prstGeom prst="line">
            <a:avLst/>
          </a:prstGeom>
          <a:ln w="15875">
            <a:solidFill>
              <a:srgbClr val="B43B13"/>
            </a:solidFill>
          </a:ln>
        </p:spPr>
      </p:cxnSp>
      <p:sp>
        <p:nvSpPr>
          <p:cNvPr id="5" name="TextBox 4"/>
          <p:cNvSpPr txBox="1"/>
          <p:nvPr/>
        </p:nvSpPr>
        <p:spPr>
          <a:xfrm>
            <a:off x="502920" y="1508760"/>
            <a:ext cx="8138160" cy="3108960"/>
          </a:xfrm>
          <a:prstGeom prst="rect">
            <a:avLst/>
          </a:prstGeom>
          <a:noFill/>
        </p:spPr>
        <p:txBody>
          <a:bodyPr wrap="square">
            <a:spAutoFit/>
          </a:bodyPr>
          <a:lstStyle/>
          <a:p>
            <a:pPr>
              <a:lnSpc>
                <a:spcPct val="108000"/>
              </a:lnSpc>
              <a:spcAft>
                <a:spcPts val="700"/>
              </a:spcAft>
            </a:pPr>
            <a:r>
              <a:rPr b="1" sz="1200">
                <a:solidFill>
                  <a:srgbClr val="B43B13"/>
                </a:solidFill>
                <a:latin typeface="Arial"/>
              </a:rPr>
              <a:t>•  </a:t>
            </a:r>
            <a:r>
              <a:rPr sz="1200">
                <a:solidFill>
                  <a:srgbClr val="252525"/>
                </a:solidFill>
                <a:latin typeface="Arial"/>
              </a:rPr>
              <a:t>Le projet s'appuie sur deux bibliothèques séparées, une pour les algorithmes et une pour les environnements, qui communiquent via une interface commune.</a:t>
            </a:r>
          </a:p>
          <a:p>
            <a:pPr>
              <a:lnSpc>
                <a:spcPct val="108000"/>
              </a:lnSpc>
              <a:spcAft>
                <a:spcPts val="700"/>
              </a:spcAft>
            </a:pPr>
            <a:r>
              <a:rPr b="1" sz="1200">
                <a:solidFill>
                  <a:srgbClr val="B43B13"/>
                </a:solidFill>
                <a:latin typeface="Arial"/>
              </a:rPr>
              <a:t>•  </a:t>
            </a:r>
            <a:r>
              <a:rPr sz="1200">
                <a:solidFill>
                  <a:srgbClr val="252525"/>
                </a:solidFill>
                <a:latin typeface="Arial"/>
              </a:rPr>
              <a:t>Pour comparer équitablement, on entraîne chaque algorithme puis on évalue la politique obtenue sur 200 épisodes joués en glouton, sans apprentissage : le score est ainsi comparable d'un algorithme à l'autre.</a:t>
            </a:r>
          </a:p>
          <a:p>
            <a:pPr>
              <a:lnSpc>
                <a:spcPct val="108000"/>
              </a:lnSpc>
              <a:spcAft>
                <a:spcPts val="700"/>
              </a:spcAft>
            </a:pPr>
            <a:r>
              <a:rPr b="1" sz="1200">
                <a:solidFill>
                  <a:srgbClr val="B43B13"/>
                </a:solidFill>
                <a:latin typeface="Arial"/>
              </a:rPr>
              <a:t>•  </a:t>
            </a:r>
            <a:r>
              <a:rPr sz="1200">
                <a:solidFill>
                  <a:srgbClr val="252525"/>
                </a:solidFill>
                <a:latin typeface="Arial"/>
              </a:rPr>
              <a:t>La programmation dynamique est peu sensible au hasard une fois convergée, donc on ne la lance qu'une seule fois par environnement.</a:t>
            </a:r>
          </a:p>
          <a:p>
            <a:pPr>
              <a:lnSpc>
                <a:spcPct val="108000"/>
              </a:lnSpc>
              <a:spcAft>
                <a:spcPts val="700"/>
              </a:spcAft>
            </a:pPr>
            <a:r>
              <a:rPr b="1" sz="1200">
                <a:solidFill>
                  <a:srgbClr val="B43B13"/>
                </a:solidFill>
                <a:latin typeface="Arial"/>
              </a:rPr>
              <a:t>•  </a:t>
            </a:r>
            <a:r>
              <a:rPr sz="1200">
                <a:solidFill>
                  <a:srgbClr val="252525"/>
                </a:solidFill>
                <a:latin typeface="Arial"/>
              </a:rPr>
              <a:t>Les méthodes model-free dépendent beaucoup de l'exploration, donc on les relance sur 5 graines aléatoires pour mesurer un vrai taux de réussite, pas un coup de chance isolé.</a:t>
            </a:r>
          </a:p>
          <a:p>
            <a:pPr>
              <a:lnSpc>
                <a:spcPct val="108000"/>
              </a:lnSpc>
              <a:spcAft>
                <a:spcPts val="700"/>
              </a:spcAft>
            </a:pPr>
            <a:r>
              <a:rPr b="1" sz="1200">
                <a:solidFill>
                  <a:srgbClr val="B43B13"/>
                </a:solidFill>
                <a:latin typeface="Arial"/>
              </a:rPr>
              <a:t>•  </a:t>
            </a:r>
            <a:r>
              <a:rPr sz="1200">
                <a:solidFill>
                  <a:srgbClr val="252525"/>
                </a:solidFill>
                <a:latin typeface="Arial"/>
              </a:rPr>
              <a:t>Le seuil de réussite n'est pas fixé au hasard : c'est le score optimal réel de l'environnement, calculé avec Value Iteration, avec une marge de 0,1.</a:t>
            </a:r>
          </a:p>
          <a:p>
            <a:pPr>
              <a:lnSpc>
                <a:spcPct val="108000"/>
              </a:lnSpc>
              <a:spcAft>
                <a:spcPts val="700"/>
              </a:spcAft>
            </a:pPr>
            <a:r>
              <a:rPr b="1" sz="1200">
                <a:solidFill>
                  <a:srgbClr val="B43B13"/>
                </a:solidFill>
                <a:latin typeface="Arial"/>
              </a:rPr>
              <a:t>•  </a:t>
            </a:r>
            <a:r>
              <a:rPr sz="1200">
                <a:solidFill>
                  <a:srgbClr val="252525"/>
                </a:solidFill>
                <a:latin typeface="Arial"/>
              </a:rPr>
              <a:t>On a aussi relevé epsilon à 0,3 au lieu de 0,1 pour Sarsa, Q-Learning, Dyna-Q et l'on-policy MC control, à cause d'un problème d'exploration détaillé plus loin.</a:t>
            </a:r>
          </a:p>
        </p:txBody>
      </p:sp>
      <p:cxnSp>
        <p:nvCxnSpPr>
          <p:cNvPr id="6" name="Connector 5"/>
          <p:cNvCxnSpPr/>
          <p:nvPr/>
        </p:nvCxnSpPr>
        <p:spPr>
          <a:xfrm>
            <a:off x="502920" y="4736592"/>
            <a:ext cx="8138160" cy="0"/>
          </a:xfrm>
          <a:prstGeom prst="line">
            <a:avLst/>
          </a:prstGeom>
          <a:ln w="9525">
            <a:solidFill>
              <a:srgbClr val="B43B13"/>
            </a:solidFill>
          </a:ln>
        </p:spPr>
      </p:cxnSp>
      <p:sp>
        <p:nvSpPr>
          <p:cNvPr id="7" name="TextBox 6"/>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8" name="TextBox 7"/>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Plan</a:t>
            </a:r>
          </a:p>
        </p:txBody>
      </p:sp>
      <p:sp>
        <p:nvSpPr>
          <p:cNvPr id="3" name="TextBox 2"/>
          <p:cNvSpPr txBox="1"/>
          <p:nvPr/>
        </p:nvSpPr>
        <p:spPr>
          <a:xfrm>
            <a:off x="502920" y="1371600"/>
            <a:ext cx="2743200" cy="1097280"/>
          </a:xfrm>
          <a:prstGeom prst="rect">
            <a:avLst/>
          </a:prstGeom>
          <a:noFill/>
        </p:spPr>
        <p:txBody>
          <a:bodyPr wrap="square">
            <a:spAutoFit/>
          </a:bodyPr>
          <a:lstStyle/>
          <a:p>
            <a:pPr algn="l">
              <a:lnSpc>
                <a:spcPct val="100000"/>
              </a:lnSpc>
            </a:pPr>
            <a:r>
              <a:rPr sz="6400" b="0" i="1">
                <a:solidFill>
                  <a:srgbClr val="B43B13"/>
                </a:solidFill>
                <a:latin typeface="Georgia"/>
              </a:rPr>
              <a:t>01.</a:t>
            </a:r>
          </a:p>
        </p:txBody>
      </p:sp>
      <p:sp>
        <p:nvSpPr>
          <p:cNvPr id="4" name="TextBox 3"/>
          <p:cNvSpPr txBox="1"/>
          <p:nvPr/>
        </p:nvSpPr>
        <p:spPr>
          <a:xfrm>
            <a:off x="502920" y="2880360"/>
            <a:ext cx="8138160" cy="1097280"/>
          </a:xfrm>
          <a:prstGeom prst="rect">
            <a:avLst/>
          </a:prstGeom>
          <a:noFill/>
        </p:spPr>
        <p:txBody>
          <a:bodyPr wrap="square">
            <a:spAutoFit/>
          </a:bodyPr>
          <a:lstStyle/>
          <a:p>
            <a:pPr algn="l">
              <a:lnSpc>
                <a:spcPct val="105000"/>
              </a:lnSpc>
            </a:pPr>
            <a:r>
              <a:rPr sz="3200" b="1" i="0">
                <a:solidFill>
                  <a:srgbClr val="252525"/>
                </a:solidFill>
                <a:latin typeface="Arial"/>
              </a:rPr>
              <a:t>LES </a:t>
            </a:r>
            <a:r>
              <a:rPr sz="3200" b="0" i="1">
                <a:solidFill>
                  <a:srgbClr val="252525"/>
                </a:solidFill>
                <a:latin typeface="Georgia"/>
              </a:rPr>
              <a:t>environnements</a:t>
            </a:r>
          </a:p>
        </p:txBody>
      </p:sp>
      <p:cxnSp>
        <p:nvCxnSpPr>
          <p:cNvPr id="5" name="Connector 4"/>
          <p:cNvCxnSpPr/>
          <p:nvPr/>
        </p:nvCxnSpPr>
        <p:spPr>
          <a:xfrm>
            <a:off x="502920" y="4160520"/>
            <a:ext cx="8138160" cy="0"/>
          </a:xfrm>
          <a:prstGeom prst="line">
            <a:avLst/>
          </a:prstGeom>
          <a:ln w="19050">
            <a:solidFill>
              <a:srgbClr val="B43B13"/>
            </a:solidFill>
          </a:ln>
        </p:spPr>
      </p:cxnSp>
      <p:cxnSp>
        <p:nvCxnSpPr>
          <p:cNvPr id="6" name="Connector 5"/>
          <p:cNvCxnSpPr/>
          <p:nvPr/>
        </p:nvCxnSpPr>
        <p:spPr>
          <a:xfrm>
            <a:off x="502920" y="4736592"/>
            <a:ext cx="8138160" cy="0"/>
          </a:xfrm>
          <a:prstGeom prst="line">
            <a:avLst/>
          </a:prstGeom>
          <a:ln w="9525">
            <a:solidFill>
              <a:srgbClr val="B43B13"/>
            </a:solidFill>
          </a:ln>
        </p:spPr>
      </p:cxnSp>
      <p:sp>
        <p:nvSpPr>
          <p:cNvPr id="7" name="TextBox 6"/>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8" name="TextBox 7"/>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Environnements</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600" b="1" i="0">
                <a:solidFill>
                  <a:srgbClr val="252525"/>
                </a:solidFill>
                <a:latin typeface="Arial"/>
              </a:rPr>
              <a:t>QUATRE ENVIRONNEMENTS </a:t>
            </a:r>
            <a:r>
              <a:rPr sz="2600" b="0" i="1">
                <a:solidFill>
                  <a:srgbClr val="252525"/>
                </a:solidFill>
                <a:latin typeface="Georgia"/>
              </a:rPr>
              <a:t>développés</a:t>
            </a:r>
          </a:p>
        </p:txBody>
      </p:sp>
      <p:cxnSp>
        <p:nvCxnSpPr>
          <p:cNvPr id="4" name="Connector 3"/>
          <p:cNvCxnSpPr/>
          <p:nvPr/>
        </p:nvCxnSpPr>
        <p:spPr>
          <a:xfrm>
            <a:off x="502920" y="1325880"/>
            <a:ext cx="8138160" cy="0"/>
          </a:xfrm>
          <a:prstGeom prst="line">
            <a:avLst/>
          </a:prstGeom>
          <a:ln w="15875">
            <a:solidFill>
              <a:srgbClr val="B43B13"/>
            </a:solidFill>
          </a:ln>
        </p:spPr>
      </p:cxnSp>
      <p:sp>
        <p:nvSpPr>
          <p:cNvPr id="5" name="TextBox 4"/>
          <p:cNvSpPr txBox="1"/>
          <p:nvPr/>
        </p:nvSpPr>
        <p:spPr>
          <a:xfrm>
            <a:off x="502920" y="1645920"/>
            <a:ext cx="3931920" cy="274320"/>
          </a:xfrm>
          <a:prstGeom prst="rect">
            <a:avLst/>
          </a:prstGeom>
          <a:noFill/>
        </p:spPr>
        <p:txBody>
          <a:bodyPr wrap="square">
            <a:spAutoFit/>
          </a:bodyPr>
          <a:lstStyle/>
          <a:p>
            <a:pPr algn="l">
              <a:lnSpc>
                <a:spcPct val="100000"/>
              </a:lnSpc>
            </a:pPr>
            <a:r>
              <a:rPr sz="1350" b="1" i="0">
                <a:solidFill>
                  <a:srgbClr val="B43B13"/>
                </a:solidFill>
                <a:latin typeface="Arial"/>
              </a:rPr>
              <a:t>LINE WORLD</a:t>
            </a:r>
          </a:p>
        </p:txBody>
      </p:sp>
      <p:sp>
        <p:nvSpPr>
          <p:cNvPr id="6" name="TextBox 5"/>
          <p:cNvSpPr txBox="1"/>
          <p:nvPr/>
        </p:nvSpPr>
        <p:spPr>
          <a:xfrm>
            <a:off x="502920" y="1965960"/>
            <a:ext cx="3931920" cy="1188720"/>
          </a:xfrm>
          <a:prstGeom prst="rect">
            <a:avLst/>
          </a:prstGeom>
          <a:noFill/>
        </p:spPr>
        <p:txBody>
          <a:bodyPr wrap="square">
            <a:spAutoFit/>
          </a:bodyPr>
          <a:lstStyle/>
          <a:p>
            <a:pPr algn="l">
              <a:lnSpc>
                <a:spcPct val="115000"/>
              </a:lnSpc>
            </a:pPr>
            <a:r>
              <a:rPr sz="1150" b="0" i="0">
                <a:solidFill>
                  <a:srgbClr val="252525"/>
                </a:solidFill>
                <a:latin typeface="Arial"/>
              </a:rPr>
              <a:t>Ligne de 5 cases, départ au milieu. Sortir à gauche donne -1, à droite +1.</a:t>
            </a:r>
          </a:p>
        </p:txBody>
      </p:sp>
      <p:sp>
        <p:nvSpPr>
          <p:cNvPr id="7" name="TextBox 6"/>
          <p:cNvSpPr txBox="1"/>
          <p:nvPr/>
        </p:nvSpPr>
        <p:spPr>
          <a:xfrm>
            <a:off x="4617720" y="1645920"/>
            <a:ext cx="3931920" cy="274320"/>
          </a:xfrm>
          <a:prstGeom prst="rect">
            <a:avLst/>
          </a:prstGeom>
          <a:noFill/>
        </p:spPr>
        <p:txBody>
          <a:bodyPr wrap="square">
            <a:spAutoFit/>
          </a:bodyPr>
          <a:lstStyle/>
          <a:p>
            <a:pPr algn="l">
              <a:lnSpc>
                <a:spcPct val="100000"/>
              </a:lnSpc>
            </a:pPr>
            <a:r>
              <a:rPr sz="1350" b="1" i="0">
                <a:solidFill>
                  <a:srgbClr val="B43B13"/>
                </a:solidFill>
                <a:latin typeface="Arial"/>
              </a:rPr>
              <a:t>GRID WORLD</a:t>
            </a:r>
          </a:p>
        </p:txBody>
      </p:sp>
      <p:sp>
        <p:nvSpPr>
          <p:cNvPr id="8" name="TextBox 7"/>
          <p:cNvSpPr txBox="1"/>
          <p:nvPr/>
        </p:nvSpPr>
        <p:spPr>
          <a:xfrm>
            <a:off x="4617720" y="1965960"/>
            <a:ext cx="3931920" cy="1188720"/>
          </a:xfrm>
          <a:prstGeom prst="rect">
            <a:avLst/>
          </a:prstGeom>
          <a:noFill/>
        </p:spPr>
        <p:txBody>
          <a:bodyPr wrap="square">
            <a:spAutoFit/>
          </a:bodyPr>
          <a:lstStyle/>
          <a:p>
            <a:pPr algn="l">
              <a:lnSpc>
                <a:spcPct val="115000"/>
              </a:lnSpc>
            </a:pPr>
            <a:r>
              <a:rPr sz="1150" b="0" i="0">
                <a:solidFill>
                  <a:srgbClr val="252525"/>
                </a:solidFill>
                <a:latin typeface="Arial"/>
              </a:rPr>
              <a:t>Grille 5×5, 4 déplacements possibles. L'objectif vaut +1, le piège -1, et un mur laisse l'agent sur place.</a:t>
            </a:r>
          </a:p>
        </p:txBody>
      </p:sp>
      <p:sp>
        <p:nvSpPr>
          <p:cNvPr id="9" name="TextBox 8"/>
          <p:cNvSpPr txBox="1"/>
          <p:nvPr/>
        </p:nvSpPr>
        <p:spPr>
          <a:xfrm>
            <a:off x="502920" y="3246120"/>
            <a:ext cx="3931920" cy="274320"/>
          </a:xfrm>
          <a:prstGeom prst="rect">
            <a:avLst/>
          </a:prstGeom>
          <a:noFill/>
        </p:spPr>
        <p:txBody>
          <a:bodyPr wrap="square">
            <a:spAutoFit/>
          </a:bodyPr>
          <a:lstStyle/>
          <a:p>
            <a:pPr algn="l">
              <a:lnSpc>
                <a:spcPct val="100000"/>
              </a:lnSpc>
            </a:pPr>
            <a:r>
              <a:rPr sz="1350" b="1" i="0">
                <a:solidFill>
                  <a:srgbClr val="B43B13"/>
                </a:solidFill>
                <a:latin typeface="Arial"/>
              </a:rPr>
              <a:t>TWO ROUND RPS</a:t>
            </a:r>
          </a:p>
        </p:txBody>
      </p:sp>
      <p:sp>
        <p:nvSpPr>
          <p:cNvPr id="10" name="TextBox 9"/>
          <p:cNvSpPr txBox="1"/>
          <p:nvPr/>
        </p:nvSpPr>
        <p:spPr>
          <a:xfrm>
            <a:off x="502920" y="3566160"/>
            <a:ext cx="3931920" cy="1188720"/>
          </a:xfrm>
          <a:prstGeom prst="rect">
            <a:avLst/>
          </a:prstGeom>
          <a:noFill/>
        </p:spPr>
        <p:txBody>
          <a:bodyPr wrap="square">
            <a:spAutoFit/>
          </a:bodyPr>
          <a:lstStyle/>
          <a:p>
            <a:pPr algn="l">
              <a:lnSpc>
                <a:spcPct val="115000"/>
              </a:lnSpc>
            </a:pPr>
            <a:r>
              <a:rPr sz="1150" b="0" i="0">
                <a:solidFill>
                  <a:srgbClr val="252525"/>
                </a:solidFill>
                <a:latin typeface="Arial"/>
              </a:rPr>
              <a:t>2 manches de pierre-feuille-ciseaux. Au round 2, l'adversaire est obligé de rejouer le coup de l'agent au round 1.</a:t>
            </a:r>
          </a:p>
        </p:txBody>
      </p:sp>
      <p:sp>
        <p:nvSpPr>
          <p:cNvPr id="11" name="TextBox 10"/>
          <p:cNvSpPr txBox="1"/>
          <p:nvPr/>
        </p:nvSpPr>
        <p:spPr>
          <a:xfrm>
            <a:off x="4617720" y="3246120"/>
            <a:ext cx="3931920" cy="274320"/>
          </a:xfrm>
          <a:prstGeom prst="rect">
            <a:avLst/>
          </a:prstGeom>
          <a:noFill/>
        </p:spPr>
        <p:txBody>
          <a:bodyPr wrap="square">
            <a:spAutoFit/>
          </a:bodyPr>
          <a:lstStyle/>
          <a:p>
            <a:pPr algn="l">
              <a:lnSpc>
                <a:spcPct val="100000"/>
              </a:lnSpc>
            </a:pPr>
            <a:r>
              <a:rPr sz="1350" b="1" i="0">
                <a:solidFill>
                  <a:srgbClr val="B43B13"/>
                </a:solidFill>
                <a:latin typeface="Arial"/>
              </a:rPr>
              <a:t>MONTY HALL (3 ET 5 PORTES)</a:t>
            </a:r>
          </a:p>
        </p:txBody>
      </p:sp>
      <p:sp>
        <p:nvSpPr>
          <p:cNvPr id="12" name="TextBox 11"/>
          <p:cNvSpPr txBox="1"/>
          <p:nvPr/>
        </p:nvSpPr>
        <p:spPr>
          <a:xfrm>
            <a:off x="4617720" y="3566160"/>
            <a:ext cx="3931920" cy="1188720"/>
          </a:xfrm>
          <a:prstGeom prst="rect">
            <a:avLst/>
          </a:prstGeom>
          <a:noFill/>
        </p:spPr>
        <p:txBody>
          <a:bodyPr wrap="square">
            <a:spAutoFit/>
          </a:bodyPr>
          <a:lstStyle/>
          <a:p>
            <a:pPr algn="l">
              <a:lnSpc>
                <a:spcPct val="115000"/>
              </a:lnSpc>
            </a:pPr>
            <a:r>
              <a:rPr sz="1150" b="0" i="0">
                <a:solidFill>
                  <a:srgbClr val="252525"/>
                </a:solidFill>
                <a:latin typeface="Arial"/>
              </a:rPr>
              <a:t>L'agent choisit une porte, une porte perdante est retirée, puis il garde ou change. Le score optimal est de 2/3 avec 3 portes et 4/5 avec 5 portes.</a:t>
            </a:r>
          </a:p>
        </p:txBody>
      </p:sp>
      <p:cxnSp>
        <p:nvCxnSpPr>
          <p:cNvPr id="13" name="Connector 12"/>
          <p:cNvCxnSpPr/>
          <p:nvPr/>
        </p:nvCxnSpPr>
        <p:spPr>
          <a:xfrm>
            <a:off x="502920" y="4736592"/>
            <a:ext cx="8138160" cy="0"/>
          </a:xfrm>
          <a:prstGeom prst="line">
            <a:avLst/>
          </a:prstGeom>
          <a:ln w="9525">
            <a:solidFill>
              <a:srgbClr val="B43B13"/>
            </a:solidFill>
          </a:ln>
        </p:spPr>
      </p:cxnSp>
      <p:sp>
        <p:nvSpPr>
          <p:cNvPr id="14" name="TextBox 13"/>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15" name="TextBox 14"/>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Environnements</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600" b="1" i="0">
                <a:solidFill>
                  <a:srgbClr val="252525"/>
                </a:solidFill>
                <a:latin typeface="Arial"/>
              </a:rPr>
              <a:t>LES ENVIRONNEMENTS </a:t>
            </a:r>
            <a:r>
              <a:rPr sz="2600" b="0" i="1">
                <a:solidFill>
                  <a:srgbClr val="252525"/>
                </a:solidFill>
                <a:latin typeface="Georgia"/>
              </a:rPr>
              <a:t>secrets</a:t>
            </a:r>
          </a:p>
        </p:txBody>
      </p:sp>
      <p:cxnSp>
        <p:nvCxnSpPr>
          <p:cNvPr id="4" name="Connector 3"/>
          <p:cNvCxnSpPr/>
          <p:nvPr/>
        </p:nvCxnSpPr>
        <p:spPr>
          <a:xfrm>
            <a:off x="502920" y="1325880"/>
            <a:ext cx="8138160" cy="0"/>
          </a:xfrm>
          <a:prstGeom prst="line">
            <a:avLst/>
          </a:prstGeom>
          <a:ln w="15875">
            <a:solidFill>
              <a:srgbClr val="B43B13"/>
            </a:solidFill>
          </a:ln>
        </p:spPr>
      </p:cxnSp>
      <p:sp>
        <p:nvSpPr>
          <p:cNvPr id="5" name="TextBox 4"/>
          <p:cNvSpPr txBox="1"/>
          <p:nvPr/>
        </p:nvSpPr>
        <p:spPr>
          <a:xfrm>
            <a:off x="502920" y="1508760"/>
            <a:ext cx="8138160" cy="731520"/>
          </a:xfrm>
          <a:prstGeom prst="rect">
            <a:avLst/>
          </a:prstGeom>
          <a:noFill/>
        </p:spPr>
        <p:txBody>
          <a:bodyPr wrap="square">
            <a:spAutoFit/>
          </a:bodyPr>
          <a:lstStyle/>
          <a:p>
            <a:pPr algn="l">
              <a:lnSpc>
                <a:spcPct val="115000"/>
              </a:lnSpc>
            </a:pPr>
            <a:r>
              <a:rPr sz="1250" b="0" i="0">
                <a:solidFill>
                  <a:srgbClr val="252525"/>
                </a:solidFill>
                <a:latin typeface="Arial"/>
              </a:rPr>
              <a:t>Ce sont des bibliothèques compilées fournies par le cours (.so, .dll, .dylib), dont on ne connaît pas les règles internes. Un adaptateur, SecretEnvAdapter, les rend compatibles avec l'interface commune du projet.</a:t>
            </a:r>
          </a:p>
        </p:txBody>
      </p:sp>
      <p:graphicFrame>
        <p:nvGraphicFramePr>
          <p:cNvPr id="6" name="Table 5"/>
          <p:cNvGraphicFramePr>
            <a:graphicFrameLocks noGrp="1"/>
          </p:cNvGraphicFramePr>
          <p:nvPr/>
        </p:nvGraphicFramePr>
        <p:xfrm>
          <a:off x="502920" y="2331720"/>
          <a:ext cx="8138160" cy="1371600"/>
        </p:xfrm>
        <a:graphic>
          <a:graphicData uri="http://schemas.openxmlformats.org/drawingml/2006/table">
            <a:tbl>
              <a:tblPr firstRow="1" bandRow="1">
                <a:tableStyleId>{5C22544A-7EE6-4342-B048-85BDC9FD1C3A}</a:tableStyleId>
              </a:tblPr>
              <a:tblGrid>
                <a:gridCol w="4114800"/>
                <a:gridCol w="2468880"/>
                <a:gridCol w="1554480"/>
              </a:tblGrid>
              <a:tr h="274320">
                <a:tc>
                  <a:txBody>
                    <a:bodyPr/>
                    <a:lstStyle/>
                    <a:p>
                      <a:r>
                        <a:rPr sz="1200" b="1">
                          <a:solidFill>
                            <a:srgbClr val="FFFFFF"/>
                          </a:solidFill>
                          <a:latin typeface="Arial"/>
                        </a:rPr>
                        <a:t>Environnement</a:t>
                      </a:r>
                    </a:p>
                  </a:txBody>
                  <a:tcPr marT="50800" marB="50800">
                    <a:solidFill>
                      <a:srgbClr val="B43B13"/>
                    </a:solidFill>
                  </a:tcPr>
                </a:tc>
                <a:tc>
                  <a:txBody>
                    <a:bodyPr/>
                    <a:lstStyle/>
                    <a:p>
                      <a:r>
                        <a:rPr sz="1200" b="1">
                          <a:solidFill>
                            <a:srgbClr val="FFFFFF"/>
                          </a:solidFill>
                          <a:latin typeface="Arial"/>
                        </a:rPr>
                        <a:t>États</a:t>
                      </a:r>
                    </a:p>
                  </a:txBody>
                  <a:tcPr marT="50800" marB="50800">
                    <a:solidFill>
                      <a:srgbClr val="B43B13"/>
                    </a:solidFill>
                  </a:tcPr>
                </a:tc>
                <a:tc>
                  <a:txBody>
                    <a:bodyPr/>
                    <a:lstStyle/>
                    <a:p>
                      <a:r>
                        <a:rPr sz="1200" b="1">
                          <a:solidFill>
                            <a:srgbClr val="FFFFFF"/>
                          </a:solidFill>
                          <a:latin typeface="Arial"/>
                        </a:rPr>
                        <a:t>Actions</a:t>
                      </a:r>
                    </a:p>
                  </a:txBody>
                  <a:tcPr marT="50800" marB="50800">
                    <a:solidFill>
                      <a:srgbClr val="B43B13"/>
                    </a:solidFill>
                  </a:tcPr>
                </a:tc>
              </a:tr>
              <a:tr h="274320">
                <a:tc>
                  <a:txBody>
                    <a:bodyPr/>
                    <a:lstStyle/>
                    <a:p>
                      <a:r>
                        <a:rPr sz="1200">
                          <a:solidFill>
                            <a:srgbClr val="252525"/>
                          </a:solidFill>
                          <a:latin typeface="Arial"/>
                        </a:rPr>
                        <a:t>Secret Env 0</a:t>
                      </a:r>
                    </a:p>
                  </a:txBody>
                  <a:tcPr marT="38100" marB="38100">
                    <a:solidFill>
                      <a:srgbClr val="FFFFFF"/>
                    </a:solidFill>
                  </a:tcPr>
                </a:tc>
                <a:tc>
                  <a:txBody>
                    <a:bodyPr/>
                    <a:lstStyle/>
                    <a:p>
                      <a:r>
                        <a:rPr sz="1200">
                          <a:solidFill>
                            <a:srgbClr val="252525"/>
                          </a:solidFill>
                          <a:latin typeface="Arial"/>
                        </a:rPr>
                        <a:t>8 192</a:t>
                      </a:r>
                    </a:p>
                  </a:txBody>
                  <a:tcPr marT="38100" marB="38100">
                    <a:solidFill>
                      <a:srgbClr val="FFFFFF"/>
                    </a:solidFill>
                  </a:tcPr>
                </a:tc>
                <a:tc>
                  <a:txBody>
                    <a:bodyPr/>
                    <a:lstStyle/>
                    <a:p>
                      <a:r>
                        <a:rPr sz="1200">
                          <a:solidFill>
                            <a:srgbClr val="252525"/>
                          </a:solidFill>
                          <a:latin typeface="Arial"/>
                        </a:rPr>
                        <a:t>3</a:t>
                      </a:r>
                    </a:p>
                  </a:txBody>
                  <a:tcPr marT="38100" marB="38100">
                    <a:solidFill>
                      <a:srgbClr val="FFFFFF"/>
                    </a:solidFill>
                  </a:tcPr>
                </a:tc>
              </a:tr>
              <a:tr h="274320">
                <a:tc>
                  <a:txBody>
                    <a:bodyPr/>
                    <a:lstStyle/>
                    <a:p>
                      <a:r>
                        <a:rPr sz="1200">
                          <a:solidFill>
                            <a:srgbClr val="252525"/>
                          </a:solidFill>
                          <a:latin typeface="Arial"/>
                        </a:rPr>
                        <a:t>Secret Env 1</a:t>
                      </a:r>
                    </a:p>
                  </a:txBody>
                  <a:tcPr marT="38100" marB="38100">
                    <a:solidFill>
                      <a:srgbClr val="F0F0F0"/>
                    </a:solidFill>
                  </a:tcPr>
                </a:tc>
                <a:tc>
                  <a:txBody>
                    <a:bodyPr/>
                    <a:lstStyle/>
                    <a:p>
                      <a:r>
                        <a:rPr sz="1200">
                          <a:solidFill>
                            <a:srgbClr val="252525"/>
                          </a:solidFill>
                          <a:latin typeface="Arial"/>
                        </a:rPr>
                        <a:t>65 536</a:t>
                      </a:r>
                    </a:p>
                  </a:txBody>
                  <a:tcPr marT="38100" marB="38100">
                    <a:solidFill>
                      <a:srgbClr val="F0F0F0"/>
                    </a:solidFill>
                  </a:tcPr>
                </a:tc>
                <a:tc>
                  <a:txBody>
                    <a:bodyPr/>
                    <a:lstStyle/>
                    <a:p>
                      <a:r>
                        <a:rPr sz="1200">
                          <a:solidFill>
                            <a:srgbClr val="252525"/>
                          </a:solidFill>
                          <a:latin typeface="Arial"/>
                        </a:rPr>
                        <a:t>3</a:t>
                      </a:r>
                    </a:p>
                  </a:txBody>
                  <a:tcPr marT="38100" marB="38100">
                    <a:solidFill>
                      <a:srgbClr val="F0F0F0"/>
                    </a:solidFill>
                  </a:tcPr>
                </a:tc>
              </a:tr>
              <a:tr h="274320">
                <a:tc>
                  <a:txBody>
                    <a:bodyPr/>
                    <a:lstStyle/>
                    <a:p>
                      <a:r>
                        <a:rPr sz="1200">
                          <a:solidFill>
                            <a:srgbClr val="252525"/>
                          </a:solidFill>
                          <a:latin typeface="Arial"/>
                        </a:rPr>
                        <a:t>Secret Env 2</a:t>
                      </a:r>
                    </a:p>
                  </a:txBody>
                  <a:tcPr marT="38100" marB="38100">
                    <a:solidFill>
                      <a:srgbClr val="FFFFFF"/>
                    </a:solidFill>
                  </a:tcPr>
                </a:tc>
                <a:tc>
                  <a:txBody>
                    <a:bodyPr/>
                    <a:lstStyle/>
                    <a:p>
                      <a:r>
                        <a:rPr sz="1200">
                          <a:solidFill>
                            <a:srgbClr val="252525"/>
                          </a:solidFill>
                          <a:latin typeface="Arial"/>
                        </a:rPr>
                        <a:t>2 097 152</a:t>
                      </a:r>
                    </a:p>
                  </a:txBody>
                  <a:tcPr marT="38100" marB="38100">
                    <a:solidFill>
                      <a:srgbClr val="FFFFFF"/>
                    </a:solidFill>
                  </a:tcPr>
                </a:tc>
                <a:tc>
                  <a:txBody>
                    <a:bodyPr/>
                    <a:lstStyle/>
                    <a:p>
                      <a:r>
                        <a:rPr sz="1200">
                          <a:solidFill>
                            <a:srgbClr val="252525"/>
                          </a:solidFill>
                          <a:latin typeface="Arial"/>
                        </a:rPr>
                        <a:t>3</a:t>
                      </a:r>
                    </a:p>
                  </a:txBody>
                  <a:tcPr marT="38100" marB="38100">
                    <a:solidFill>
                      <a:srgbClr val="FFFFFF"/>
                    </a:solidFill>
                  </a:tcPr>
                </a:tc>
              </a:tr>
              <a:tr h="274320">
                <a:tc>
                  <a:txBody>
                    <a:bodyPr/>
                    <a:lstStyle/>
                    <a:p>
                      <a:r>
                        <a:rPr sz="1200">
                          <a:solidFill>
                            <a:srgbClr val="252525"/>
                          </a:solidFill>
                          <a:latin typeface="Arial"/>
                        </a:rPr>
                        <a:t>Secret Env 3</a:t>
                      </a:r>
                    </a:p>
                  </a:txBody>
                  <a:tcPr marT="38100" marB="38100">
                    <a:solidFill>
                      <a:srgbClr val="F0F0F0"/>
                    </a:solidFill>
                  </a:tcPr>
                </a:tc>
                <a:tc>
                  <a:txBody>
                    <a:bodyPr/>
                    <a:lstStyle/>
                    <a:p>
                      <a:r>
                        <a:rPr sz="1200">
                          <a:solidFill>
                            <a:srgbClr val="252525"/>
                          </a:solidFill>
                          <a:latin typeface="Arial"/>
                        </a:rPr>
                        <a:t>65 536</a:t>
                      </a:r>
                    </a:p>
                  </a:txBody>
                  <a:tcPr marT="38100" marB="38100">
                    <a:solidFill>
                      <a:srgbClr val="F0F0F0"/>
                    </a:solidFill>
                  </a:tcPr>
                </a:tc>
                <a:tc>
                  <a:txBody>
                    <a:bodyPr/>
                    <a:lstStyle/>
                    <a:p>
                      <a:r>
                        <a:rPr sz="1200">
                          <a:solidFill>
                            <a:srgbClr val="252525"/>
                          </a:solidFill>
                          <a:latin typeface="Arial"/>
                        </a:rPr>
                        <a:t>3</a:t>
                      </a:r>
                    </a:p>
                  </a:txBody>
                  <a:tcPr marT="38100" marB="38100">
                    <a:solidFill>
                      <a:srgbClr val="F0F0F0"/>
                    </a:solidFill>
                  </a:tcPr>
                </a:tc>
              </a:tr>
            </a:tbl>
          </a:graphicData>
        </a:graphic>
      </p:graphicFrame>
      <p:sp>
        <p:nvSpPr>
          <p:cNvPr id="7" name="TextBox 6"/>
          <p:cNvSpPr txBox="1"/>
          <p:nvPr/>
        </p:nvSpPr>
        <p:spPr>
          <a:xfrm>
            <a:off x="502920" y="3840480"/>
            <a:ext cx="8138160" cy="822960"/>
          </a:xfrm>
          <a:prstGeom prst="rect">
            <a:avLst/>
          </a:prstGeom>
          <a:noFill/>
        </p:spPr>
        <p:txBody>
          <a:bodyPr wrap="square">
            <a:spAutoFit/>
          </a:bodyPr>
          <a:lstStyle/>
          <a:p>
            <a:pPr>
              <a:lnSpc>
                <a:spcPct val="108000"/>
              </a:lnSpc>
              <a:spcAft>
                <a:spcPts val="1000"/>
              </a:spcAft>
            </a:pPr>
            <a:r>
              <a:rPr b="1" sz="1150">
                <a:solidFill>
                  <a:srgbClr val="B43B13"/>
                </a:solidFill>
                <a:latin typeface="Arial"/>
              </a:rPr>
              <a:t>•  </a:t>
            </a:r>
            <a:r>
              <a:rPr sz="1150">
                <a:solidFill>
                  <a:srgbClr val="252525"/>
                </a:solidFill>
                <a:latin typeface="Arial"/>
              </a:rPr>
              <a:t>On ne peut pas replacer l'agent directement dans un état choisi, donc Monte Carlo ES ne fonctionne pas ici.</a:t>
            </a:r>
          </a:p>
          <a:p>
            <a:pPr>
              <a:lnSpc>
                <a:spcPct val="108000"/>
              </a:lnSpc>
              <a:spcAft>
                <a:spcPts val="1000"/>
              </a:spcAft>
            </a:pPr>
            <a:r>
              <a:rPr b="1" sz="1150">
                <a:solidFill>
                  <a:srgbClr val="B43B13"/>
                </a:solidFill>
                <a:latin typeface="Arial"/>
              </a:rPr>
              <a:t>•  </a:t>
            </a:r>
            <a:r>
              <a:rPr sz="1150">
                <a:solidFill>
                  <a:srgbClr val="252525"/>
                </a:solidFill>
                <a:latin typeface="Arial"/>
              </a:rPr>
              <a:t>L'espace d'états est trop grand pour notre implémentation de la programmation dynamique, donc Policy et Value Iteration ne sont pas utilisés non plus.</a:t>
            </a:r>
          </a:p>
        </p:txBody>
      </p:sp>
      <p:cxnSp>
        <p:nvCxnSpPr>
          <p:cNvPr id="8" name="Connector 7"/>
          <p:cNvCxnSpPr/>
          <p:nvPr/>
        </p:nvCxnSpPr>
        <p:spPr>
          <a:xfrm>
            <a:off x="502920" y="4736592"/>
            <a:ext cx="8138160" cy="0"/>
          </a:xfrm>
          <a:prstGeom prst="line">
            <a:avLst/>
          </a:prstGeom>
          <a:ln w="9525">
            <a:solidFill>
              <a:srgbClr val="B43B13"/>
            </a:solidFill>
          </a:ln>
        </p:spPr>
      </p:cxnSp>
      <p:sp>
        <p:nvSpPr>
          <p:cNvPr id="9" name="TextBox 8"/>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10" name="TextBox 9"/>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Plan</a:t>
            </a:r>
          </a:p>
        </p:txBody>
      </p:sp>
      <p:sp>
        <p:nvSpPr>
          <p:cNvPr id="3" name="TextBox 2"/>
          <p:cNvSpPr txBox="1"/>
          <p:nvPr/>
        </p:nvSpPr>
        <p:spPr>
          <a:xfrm>
            <a:off x="502920" y="1371600"/>
            <a:ext cx="2743200" cy="1097280"/>
          </a:xfrm>
          <a:prstGeom prst="rect">
            <a:avLst/>
          </a:prstGeom>
          <a:noFill/>
        </p:spPr>
        <p:txBody>
          <a:bodyPr wrap="square">
            <a:spAutoFit/>
          </a:bodyPr>
          <a:lstStyle/>
          <a:p>
            <a:pPr algn="l">
              <a:lnSpc>
                <a:spcPct val="100000"/>
              </a:lnSpc>
            </a:pPr>
            <a:r>
              <a:rPr sz="6400" b="0" i="1">
                <a:solidFill>
                  <a:srgbClr val="B43B13"/>
                </a:solidFill>
                <a:latin typeface="Georgia"/>
              </a:rPr>
              <a:t>02.</a:t>
            </a:r>
          </a:p>
        </p:txBody>
      </p:sp>
      <p:sp>
        <p:nvSpPr>
          <p:cNvPr id="4" name="TextBox 3"/>
          <p:cNvSpPr txBox="1"/>
          <p:nvPr/>
        </p:nvSpPr>
        <p:spPr>
          <a:xfrm>
            <a:off x="502920" y="2880360"/>
            <a:ext cx="8138160" cy="1097280"/>
          </a:xfrm>
          <a:prstGeom prst="rect">
            <a:avLst/>
          </a:prstGeom>
          <a:noFill/>
        </p:spPr>
        <p:txBody>
          <a:bodyPr wrap="square">
            <a:spAutoFit/>
          </a:bodyPr>
          <a:lstStyle/>
          <a:p>
            <a:pPr algn="l">
              <a:lnSpc>
                <a:spcPct val="105000"/>
              </a:lnSpc>
            </a:pPr>
            <a:r>
              <a:rPr sz="3200" b="1" i="0">
                <a:solidFill>
                  <a:srgbClr val="252525"/>
                </a:solidFill>
                <a:latin typeface="Arial"/>
              </a:rPr>
              <a:t>LES </a:t>
            </a:r>
            <a:r>
              <a:rPr sz="3200" b="0" i="1">
                <a:solidFill>
                  <a:srgbClr val="252525"/>
                </a:solidFill>
                <a:latin typeface="Georgia"/>
              </a:rPr>
              <a:t>algorithmes</a:t>
            </a:r>
          </a:p>
        </p:txBody>
      </p:sp>
      <p:cxnSp>
        <p:nvCxnSpPr>
          <p:cNvPr id="5" name="Connector 4"/>
          <p:cNvCxnSpPr/>
          <p:nvPr/>
        </p:nvCxnSpPr>
        <p:spPr>
          <a:xfrm>
            <a:off x="502920" y="4160520"/>
            <a:ext cx="8138160" cy="0"/>
          </a:xfrm>
          <a:prstGeom prst="line">
            <a:avLst/>
          </a:prstGeom>
          <a:ln w="19050">
            <a:solidFill>
              <a:srgbClr val="B43B13"/>
            </a:solidFill>
          </a:ln>
        </p:spPr>
      </p:cxnSp>
      <p:cxnSp>
        <p:nvCxnSpPr>
          <p:cNvPr id="6" name="Connector 5"/>
          <p:cNvCxnSpPr/>
          <p:nvPr/>
        </p:nvCxnSpPr>
        <p:spPr>
          <a:xfrm>
            <a:off x="502920" y="4736592"/>
            <a:ext cx="8138160" cy="0"/>
          </a:xfrm>
          <a:prstGeom prst="line">
            <a:avLst/>
          </a:prstGeom>
          <a:ln w="9525">
            <a:solidFill>
              <a:srgbClr val="B43B13"/>
            </a:solidFill>
          </a:ln>
        </p:spPr>
      </p:cxnSp>
      <p:sp>
        <p:nvSpPr>
          <p:cNvPr id="7" name="TextBox 6"/>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8" name="TextBox 7"/>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Algorithmes</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600" b="1" i="0">
                <a:solidFill>
                  <a:srgbClr val="252525"/>
                </a:solidFill>
                <a:latin typeface="Arial"/>
              </a:rPr>
              <a:t>QUATRE FAMILLES, </a:t>
            </a:r>
            <a:r>
              <a:rPr sz="2600" b="0" i="1">
                <a:solidFill>
                  <a:srgbClr val="252525"/>
                </a:solidFill>
                <a:latin typeface="Georgia"/>
              </a:rPr>
              <a:t>huit algorithmes</a:t>
            </a:r>
          </a:p>
        </p:txBody>
      </p:sp>
      <p:cxnSp>
        <p:nvCxnSpPr>
          <p:cNvPr id="4" name="Connector 3"/>
          <p:cNvCxnSpPr/>
          <p:nvPr/>
        </p:nvCxnSpPr>
        <p:spPr>
          <a:xfrm>
            <a:off x="502920" y="1325880"/>
            <a:ext cx="8138160" cy="0"/>
          </a:xfrm>
          <a:prstGeom prst="line">
            <a:avLst/>
          </a:prstGeom>
          <a:ln w="15875">
            <a:solidFill>
              <a:srgbClr val="B43B13"/>
            </a:solidFill>
          </a:ln>
        </p:spPr>
      </p:cxnSp>
      <p:graphicFrame>
        <p:nvGraphicFramePr>
          <p:cNvPr id="5" name="Table 4"/>
          <p:cNvGraphicFramePr>
            <a:graphicFrameLocks noGrp="1"/>
          </p:cNvGraphicFramePr>
          <p:nvPr/>
        </p:nvGraphicFramePr>
        <p:xfrm>
          <a:off x="502920" y="1554480"/>
          <a:ext cx="8138160" cy="2926080"/>
        </p:xfrm>
        <a:graphic>
          <a:graphicData uri="http://schemas.openxmlformats.org/drawingml/2006/table">
            <a:tbl>
              <a:tblPr firstRow="1" bandRow="1">
                <a:tableStyleId>{5C22544A-7EE6-4342-B048-85BDC9FD1C3A}</a:tableStyleId>
              </a:tblPr>
              <a:tblGrid>
                <a:gridCol w="1920240"/>
                <a:gridCol w="2286000"/>
                <a:gridCol w="3931920"/>
              </a:tblGrid>
              <a:tr h="585216">
                <a:tc>
                  <a:txBody>
                    <a:bodyPr/>
                    <a:lstStyle/>
                    <a:p>
                      <a:r>
                        <a:rPr sz="1200" b="1">
                          <a:solidFill>
                            <a:srgbClr val="FFFFFF"/>
                          </a:solidFill>
                          <a:latin typeface="Arial"/>
                        </a:rPr>
                        <a:t>Famille</a:t>
                      </a:r>
                    </a:p>
                  </a:txBody>
                  <a:tcPr marT="50800" marB="50800">
                    <a:solidFill>
                      <a:srgbClr val="B43B13"/>
                    </a:solidFill>
                  </a:tcPr>
                </a:tc>
                <a:tc>
                  <a:txBody>
                    <a:bodyPr/>
                    <a:lstStyle/>
                    <a:p>
                      <a:r>
                        <a:rPr sz="1200" b="1">
                          <a:solidFill>
                            <a:srgbClr val="FFFFFF"/>
                          </a:solidFill>
                          <a:latin typeface="Arial"/>
                        </a:rPr>
                        <a:t>Algorithmes</a:t>
                      </a:r>
                    </a:p>
                  </a:txBody>
                  <a:tcPr marT="50800" marB="50800">
                    <a:solidFill>
                      <a:srgbClr val="B43B13"/>
                    </a:solidFill>
                  </a:tcPr>
                </a:tc>
                <a:tc>
                  <a:txBody>
                    <a:bodyPr/>
                    <a:lstStyle/>
                    <a:p>
                      <a:r>
                        <a:rPr sz="1200" b="1">
                          <a:solidFill>
                            <a:srgbClr val="FFFFFF"/>
                          </a:solidFill>
                          <a:latin typeface="Arial"/>
                        </a:rPr>
                        <a:t>Principe</a:t>
                      </a:r>
                    </a:p>
                  </a:txBody>
                  <a:tcPr marT="50800" marB="50800">
                    <a:solidFill>
                      <a:srgbClr val="B43B13"/>
                    </a:solidFill>
                  </a:tcPr>
                </a:tc>
              </a:tr>
              <a:tr h="585216">
                <a:tc>
                  <a:txBody>
                    <a:bodyPr/>
                    <a:lstStyle/>
                    <a:p>
                      <a:r>
                        <a:rPr sz="1150">
                          <a:solidFill>
                            <a:srgbClr val="252525"/>
                          </a:solidFill>
                          <a:latin typeface="Arial"/>
                        </a:rPr>
                        <a:t>Dynamic Programming</a:t>
                      </a:r>
                    </a:p>
                  </a:txBody>
                  <a:tcPr marT="38100" marB="38100">
                    <a:solidFill>
                      <a:srgbClr val="FFFFFF"/>
                    </a:solidFill>
                  </a:tcPr>
                </a:tc>
                <a:tc>
                  <a:txBody>
                    <a:bodyPr/>
                    <a:lstStyle/>
                    <a:p>
                      <a:r>
                        <a:rPr sz="1150">
                          <a:solidFill>
                            <a:srgbClr val="252525"/>
                          </a:solidFill>
                          <a:latin typeface="Arial"/>
                        </a:rPr>
                        <a:t>Policy Iteration, Value Iteration</a:t>
                      </a:r>
                    </a:p>
                  </a:txBody>
                  <a:tcPr marT="38100" marB="38100">
                    <a:solidFill>
                      <a:srgbClr val="FFFFFF"/>
                    </a:solidFill>
                  </a:tcPr>
                </a:tc>
                <a:tc>
                  <a:txBody>
                    <a:bodyPr/>
                    <a:lstStyle/>
                    <a:p>
                      <a:r>
                        <a:rPr sz="1150">
                          <a:solidFill>
                            <a:srgbClr val="252525"/>
                          </a:solidFill>
                          <a:latin typeface="Arial"/>
                        </a:rPr>
                        <a:t>Le modèle est connu à l'avance, donc on calcule la solution sans jouer une seule partie.</a:t>
                      </a:r>
                    </a:p>
                  </a:txBody>
                  <a:tcPr marT="38100" marB="38100">
                    <a:solidFill>
                      <a:srgbClr val="FFFFFF"/>
                    </a:solidFill>
                  </a:tcPr>
                </a:tc>
              </a:tr>
              <a:tr h="585216">
                <a:tc>
                  <a:txBody>
                    <a:bodyPr/>
                    <a:lstStyle/>
                    <a:p>
                      <a:r>
                        <a:rPr sz="1150">
                          <a:solidFill>
                            <a:srgbClr val="252525"/>
                          </a:solidFill>
                          <a:latin typeface="Arial"/>
                        </a:rPr>
                        <a:t>Monte Carlo</a:t>
                      </a:r>
                    </a:p>
                  </a:txBody>
                  <a:tcPr marT="38100" marB="38100">
                    <a:solidFill>
                      <a:srgbClr val="F0F0F0"/>
                    </a:solidFill>
                  </a:tcPr>
                </a:tc>
                <a:tc>
                  <a:txBody>
                    <a:bodyPr/>
                    <a:lstStyle/>
                    <a:p>
                      <a:r>
                        <a:rPr sz="1150">
                          <a:solidFill>
                            <a:srgbClr val="252525"/>
                          </a:solidFill>
                          <a:latin typeface="Arial"/>
                        </a:rPr>
                        <a:t>MC ES, on-policy first-visit, off-policy</a:t>
                      </a:r>
                    </a:p>
                  </a:txBody>
                  <a:tcPr marT="38100" marB="38100">
                    <a:solidFill>
                      <a:srgbClr val="F0F0F0"/>
                    </a:solidFill>
                  </a:tcPr>
                </a:tc>
                <a:tc>
                  <a:txBody>
                    <a:bodyPr/>
                    <a:lstStyle/>
                    <a:p>
                      <a:r>
                        <a:rPr sz="1150">
                          <a:solidFill>
                            <a:srgbClr val="252525"/>
                          </a:solidFill>
                          <a:latin typeface="Arial"/>
                        </a:rPr>
                        <a:t>On joue des épisodes complets et on apprend à partir des retours obtenus à la fin.</a:t>
                      </a:r>
                    </a:p>
                  </a:txBody>
                  <a:tcPr marT="38100" marB="38100">
                    <a:solidFill>
                      <a:srgbClr val="F0F0F0"/>
                    </a:solidFill>
                  </a:tcPr>
                </a:tc>
              </a:tr>
              <a:tr h="585216">
                <a:tc>
                  <a:txBody>
                    <a:bodyPr/>
                    <a:lstStyle/>
                    <a:p>
                      <a:r>
                        <a:rPr sz="1150">
                          <a:solidFill>
                            <a:srgbClr val="252525"/>
                          </a:solidFill>
                          <a:latin typeface="Arial"/>
                        </a:rPr>
                        <a:t>Temporal Difference</a:t>
                      </a:r>
                    </a:p>
                  </a:txBody>
                  <a:tcPr marT="38100" marB="38100">
                    <a:solidFill>
                      <a:srgbClr val="FFFFFF"/>
                    </a:solidFill>
                  </a:tcPr>
                </a:tc>
                <a:tc>
                  <a:txBody>
                    <a:bodyPr/>
                    <a:lstStyle/>
                    <a:p>
                      <a:r>
                        <a:rPr sz="1150">
                          <a:solidFill>
                            <a:srgbClr val="252525"/>
                          </a:solidFill>
                          <a:latin typeface="Arial"/>
                        </a:rPr>
                        <a:t>Sarsa, Q-Learning</a:t>
                      </a:r>
                    </a:p>
                  </a:txBody>
                  <a:tcPr marT="38100" marB="38100">
                    <a:solidFill>
                      <a:srgbClr val="FFFFFF"/>
                    </a:solidFill>
                  </a:tcPr>
                </a:tc>
                <a:tc>
                  <a:txBody>
                    <a:bodyPr/>
                    <a:lstStyle/>
                    <a:p>
                      <a:r>
                        <a:rPr sz="1150">
                          <a:solidFill>
                            <a:srgbClr val="252525"/>
                          </a:solidFill>
                          <a:latin typeface="Arial"/>
                        </a:rPr>
                        <a:t>On corrige Q après chaque action, sans attendre la fin de l'épisode.</a:t>
                      </a:r>
                    </a:p>
                  </a:txBody>
                  <a:tcPr marT="38100" marB="38100">
                    <a:solidFill>
                      <a:srgbClr val="FFFFFF"/>
                    </a:solidFill>
                  </a:tcPr>
                </a:tc>
              </a:tr>
              <a:tr h="585216">
                <a:tc>
                  <a:txBody>
                    <a:bodyPr/>
                    <a:lstStyle/>
                    <a:p>
                      <a:r>
                        <a:rPr sz="1150">
                          <a:solidFill>
                            <a:srgbClr val="252525"/>
                          </a:solidFill>
                          <a:latin typeface="Arial"/>
                        </a:rPr>
                        <a:t>Planning</a:t>
                      </a:r>
                    </a:p>
                  </a:txBody>
                  <a:tcPr marT="38100" marB="38100">
                    <a:solidFill>
                      <a:srgbClr val="F0F0F0"/>
                    </a:solidFill>
                  </a:tcPr>
                </a:tc>
                <a:tc>
                  <a:txBody>
                    <a:bodyPr/>
                    <a:lstStyle/>
                    <a:p>
                      <a:r>
                        <a:rPr sz="1150">
                          <a:solidFill>
                            <a:srgbClr val="252525"/>
                          </a:solidFill>
                          <a:latin typeface="Arial"/>
                        </a:rPr>
                        <a:t>Dyna-Q</a:t>
                      </a:r>
                    </a:p>
                  </a:txBody>
                  <a:tcPr marT="38100" marB="38100">
                    <a:solidFill>
                      <a:srgbClr val="F0F0F0"/>
                    </a:solidFill>
                  </a:tcPr>
                </a:tc>
                <a:tc>
                  <a:txBody>
                    <a:bodyPr/>
                    <a:lstStyle/>
                    <a:p>
                      <a:r>
                        <a:rPr sz="1150">
                          <a:solidFill>
                            <a:srgbClr val="252525"/>
                          </a:solidFill>
                          <a:latin typeface="Arial"/>
                        </a:rPr>
                        <a:t>C'est Q-Learning complété par un modèle appris, rejoué en interne pour apprendre plus vite.</a:t>
                      </a:r>
                    </a:p>
                  </a:txBody>
                  <a:tcPr marT="38100" marB="38100">
                    <a:solidFill>
                      <a:srgbClr val="F0F0F0"/>
                    </a:solidFill>
                  </a:tcPr>
                </a:tc>
              </a:tr>
            </a:tbl>
          </a:graphicData>
        </a:graphic>
      </p:graphicFrame>
      <p:cxnSp>
        <p:nvCxnSpPr>
          <p:cNvPr id="6" name="Connector 5"/>
          <p:cNvCxnSpPr/>
          <p:nvPr/>
        </p:nvCxnSpPr>
        <p:spPr>
          <a:xfrm>
            <a:off x="502920" y="4736592"/>
            <a:ext cx="8138160" cy="0"/>
          </a:xfrm>
          <a:prstGeom prst="line">
            <a:avLst/>
          </a:prstGeom>
          <a:ln w="9525">
            <a:solidFill>
              <a:srgbClr val="B43B13"/>
            </a:solidFill>
          </a:ln>
        </p:spPr>
      </p:cxnSp>
      <p:sp>
        <p:nvSpPr>
          <p:cNvPr id="7" name="TextBox 6"/>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8" name="TextBox 7"/>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Plan</a:t>
            </a:r>
          </a:p>
        </p:txBody>
      </p:sp>
      <p:sp>
        <p:nvSpPr>
          <p:cNvPr id="3" name="TextBox 2"/>
          <p:cNvSpPr txBox="1"/>
          <p:nvPr/>
        </p:nvSpPr>
        <p:spPr>
          <a:xfrm>
            <a:off x="502920" y="1371600"/>
            <a:ext cx="2743200" cy="1097280"/>
          </a:xfrm>
          <a:prstGeom prst="rect">
            <a:avLst/>
          </a:prstGeom>
          <a:noFill/>
        </p:spPr>
        <p:txBody>
          <a:bodyPr wrap="square">
            <a:spAutoFit/>
          </a:bodyPr>
          <a:lstStyle/>
          <a:p>
            <a:pPr algn="l">
              <a:lnSpc>
                <a:spcPct val="100000"/>
              </a:lnSpc>
            </a:pPr>
            <a:r>
              <a:rPr sz="6400" b="0" i="1">
                <a:solidFill>
                  <a:srgbClr val="B43B13"/>
                </a:solidFill>
                <a:latin typeface="Georgia"/>
              </a:rPr>
              <a:t>03.</a:t>
            </a:r>
          </a:p>
        </p:txBody>
      </p:sp>
      <p:sp>
        <p:nvSpPr>
          <p:cNvPr id="4" name="TextBox 3"/>
          <p:cNvSpPr txBox="1"/>
          <p:nvPr/>
        </p:nvSpPr>
        <p:spPr>
          <a:xfrm>
            <a:off x="502920" y="2880360"/>
            <a:ext cx="8138160" cy="1097280"/>
          </a:xfrm>
          <a:prstGeom prst="rect">
            <a:avLst/>
          </a:prstGeom>
          <a:noFill/>
        </p:spPr>
        <p:txBody>
          <a:bodyPr wrap="square">
            <a:spAutoFit/>
          </a:bodyPr>
          <a:lstStyle/>
          <a:p>
            <a:pPr algn="l">
              <a:lnSpc>
                <a:spcPct val="105000"/>
              </a:lnSpc>
            </a:pPr>
            <a:r>
              <a:rPr sz="3200" b="1" i="0">
                <a:solidFill>
                  <a:srgbClr val="252525"/>
                </a:solidFill>
                <a:latin typeface="Arial"/>
              </a:rPr>
              <a:t>RÉSULTATS </a:t>
            </a:r>
            <a:r>
              <a:rPr sz="3200" b="0" i="1">
                <a:solidFill>
                  <a:srgbClr val="252525"/>
                </a:solidFill>
                <a:latin typeface="Georgia"/>
              </a:rPr>
              <a:t>comparés</a:t>
            </a:r>
          </a:p>
        </p:txBody>
      </p:sp>
      <p:cxnSp>
        <p:nvCxnSpPr>
          <p:cNvPr id="5" name="Connector 4"/>
          <p:cNvCxnSpPr/>
          <p:nvPr/>
        </p:nvCxnSpPr>
        <p:spPr>
          <a:xfrm>
            <a:off x="502920" y="4160520"/>
            <a:ext cx="8138160" cy="0"/>
          </a:xfrm>
          <a:prstGeom prst="line">
            <a:avLst/>
          </a:prstGeom>
          <a:ln w="19050">
            <a:solidFill>
              <a:srgbClr val="B43B13"/>
            </a:solidFill>
          </a:ln>
        </p:spPr>
      </p:cxnSp>
      <p:cxnSp>
        <p:nvCxnSpPr>
          <p:cNvPr id="6" name="Connector 5"/>
          <p:cNvCxnSpPr/>
          <p:nvPr/>
        </p:nvCxnSpPr>
        <p:spPr>
          <a:xfrm>
            <a:off x="502920" y="4736592"/>
            <a:ext cx="8138160" cy="0"/>
          </a:xfrm>
          <a:prstGeom prst="line">
            <a:avLst/>
          </a:prstGeom>
          <a:ln w="9525">
            <a:solidFill>
              <a:srgbClr val="B43B13"/>
            </a:solidFill>
          </a:ln>
        </p:spPr>
      </p:cxnSp>
      <p:sp>
        <p:nvSpPr>
          <p:cNvPr id="7" name="TextBox 6"/>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8" name="TextBox 7"/>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Résultats</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600" b="1" i="0">
                <a:solidFill>
                  <a:srgbClr val="252525"/>
                </a:solidFill>
                <a:latin typeface="Arial"/>
              </a:rPr>
              <a:t>LES CAS </a:t>
            </a:r>
            <a:r>
              <a:rPr sz="2600" b="0" i="1">
                <a:solidFill>
                  <a:srgbClr val="252525"/>
                </a:solidFill>
                <a:latin typeface="Georgia"/>
              </a:rPr>
              <a:t>simples</a:t>
            </a:r>
          </a:p>
        </p:txBody>
      </p:sp>
      <p:cxnSp>
        <p:nvCxnSpPr>
          <p:cNvPr id="4" name="Connector 3"/>
          <p:cNvCxnSpPr/>
          <p:nvPr/>
        </p:nvCxnSpPr>
        <p:spPr>
          <a:xfrm>
            <a:off x="502920" y="1325880"/>
            <a:ext cx="8138160" cy="0"/>
          </a:xfrm>
          <a:prstGeom prst="line">
            <a:avLst/>
          </a:prstGeom>
          <a:ln w="15875">
            <a:solidFill>
              <a:srgbClr val="B43B13"/>
            </a:solidFill>
          </a:ln>
        </p:spPr>
      </p:cxnSp>
      <p:sp>
        <p:nvSpPr>
          <p:cNvPr id="5" name="TextBox 4"/>
          <p:cNvSpPr txBox="1"/>
          <p:nvPr/>
        </p:nvSpPr>
        <p:spPr>
          <a:xfrm>
            <a:off x="502920" y="1600200"/>
            <a:ext cx="8138160" cy="2926080"/>
          </a:xfrm>
          <a:prstGeom prst="rect">
            <a:avLst/>
          </a:prstGeom>
          <a:noFill/>
        </p:spPr>
        <p:txBody>
          <a:bodyPr wrap="square">
            <a:spAutoFit/>
          </a:bodyPr>
          <a:lstStyle/>
          <a:p>
            <a:pPr>
              <a:lnSpc>
                <a:spcPct val="108000"/>
              </a:lnSpc>
              <a:spcAft>
                <a:spcPts val="1000"/>
              </a:spcAft>
            </a:pPr>
            <a:r>
              <a:rPr b="1" sz="1400">
                <a:solidFill>
                  <a:srgbClr val="B43B13"/>
                </a:solidFill>
                <a:latin typeface="Arial"/>
              </a:rPr>
              <a:t>•  </a:t>
            </a:r>
            <a:r>
              <a:rPr sz="1400">
                <a:solidFill>
                  <a:srgbClr val="252525"/>
                </a:solidFill>
                <a:latin typeface="Arial"/>
              </a:rPr>
              <a:t>Sur Line World, les 8 algorithmes atteignent 100% de réussite : le chemin est trop court pour qu'un algorithme se distingue d'un autre.</a:t>
            </a:r>
          </a:p>
          <a:p>
            <a:pPr>
              <a:lnSpc>
                <a:spcPct val="108000"/>
              </a:lnSpc>
              <a:spcAft>
                <a:spcPts val="1000"/>
              </a:spcAft>
            </a:pPr>
            <a:r>
              <a:rPr b="1" sz="1400">
                <a:solidFill>
                  <a:srgbClr val="B43B13"/>
                </a:solidFill>
                <a:latin typeface="Arial"/>
              </a:rPr>
              <a:t>•  </a:t>
            </a:r>
            <a:r>
              <a:rPr sz="1400">
                <a:solidFill>
                  <a:srgbClr val="252525"/>
                </a:solidFill>
                <a:latin typeface="Arial"/>
              </a:rPr>
              <a:t>Sur Two Round RPS, le score optimal de 1.000 est retrouvé par tous ; les quelques écarts observés viennent surtout du bruit du round 1, qui reste aléatoire.</a:t>
            </a:r>
          </a:p>
          <a:p>
            <a:pPr>
              <a:lnSpc>
                <a:spcPct val="108000"/>
              </a:lnSpc>
              <a:spcAft>
                <a:spcPts val="1000"/>
              </a:spcAft>
            </a:pPr>
            <a:r>
              <a:rPr b="1" sz="1400">
                <a:solidFill>
                  <a:srgbClr val="B43B13"/>
                </a:solidFill>
                <a:latin typeface="Arial"/>
              </a:rPr>
              <a:t>•  </a:t>
            </a:r>
            <a:r>
              <a:rPr sz="1400">
                <a:solidFill>
                  <a:srgbClr val="252525"/>
                </a:solidFill>
                <a:latin typeface="Arial"/>
              </a:rPr>
              <a:t>Sur Monty Hall, à 3 portes (optimal 2/3) comme à 5 portes (optimal 4/5), presque tous les algorithmes s'en approchent bien.</a:t>
            </a:r>
          </a:p>
          <a:p>
            <a:pPr>
              <a:lnSpc>
                <a:spcPct val="108000"/>
              </a:lnSpc>
              <a:spcAft>
                <a:spcPts val="1000"/>
              </a:spcAft>
            </a:pPr>
            <a:r>
              <a:rPr b="1" sz="1400">
                <a:solidFill>
                  <a:srgbClr val="B43B13"/>
                </a:solidFill>
                <a:latin typeface="Arial"/>
              </a:rPr>
              <a:t>•  </a:t>
            </a:r>
            <a:r>
              <a:rPr sz="1400">
                <a:solidFill>
                  <a:srgbClr val="252525"/>
                </a:solidFill>
                <a:latin typeface="Arial"/>
              </a:rPr>
              <a:t>Seule ombre au tableau : Dyna-Q est déjà le moins fiable des huit ici, avec seulement 60% de réussite sur les deux niveaux de Monty Hall.</a:t>
            </a:r>
          </a:p>
        </p:txBody>
      </p:sp>
      <p:cxnSp>
        <p:nvCxnSpPr>
          <p:cNvPr id="6" name="Connector 5"/>
          <p:cNvCxnSpPr/>
          <p:nvPr/>
        </p:nvCxnSpPr>
        <p:spPr>
          <a:xfrm>
            <a:off x="502920" y="4736592"/>
            <a:ext cx="8138160" cy="0"/>
          </a:xfrm>
          <a:prstGeom prst="line">
            <a:avLst/>
          </a:prstGeom>
          <a:ln w="9525">
            <a:solidFill>
              <a:srgbClr val="B43B13"/>
            </a:solidFill>
          </a:ln>
        </p:spPr>
      </p:cxnSp>
      <p:sp>
        <p:nvSpPr>
          <p:cNvPr id="7" name="TextBox 6"/>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8" name="TextBox 7"/>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Résultats</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600" b="1" i="0">
                <a:solidFill>
                  <a:srgbClr val="252525"/>
                </a:solidFill>
                <a:latin typeface="Arial"/>
              </a:rPr>
              <a:t>GRID WORLD, LE CAS </a:t>
            </a:r>
            <a:r>
              <a:rPr sz="2600" b="0" i="1">
                <a:solidFill>
                  <a:srgbClr val="252525"/>
                </a:solidFill>
                <a:latin typeface="Georgia"/>
              </a:rPr>
              <a:t>révélateur</a:t>
            </a:r>
          </a:p>
        </p:txBody>
      </p:sp>
      <p:cxnSp>
        <p:nvCxnSpPr>
          <p:cNvPr id="4" name="Connector 3"/>
          <p:cNvCxnSpPr/>
          <p:nvPr/>
        </p:nvCxnSpPr>
        <p:spPr>
          <a:xfrm>
            <a:off x="502920" y="1325880"/>
            <a:ext cx="8138160" cy="0"/>
          </a:xfrm>
          <a:prstGeom prst="line">
            <a:avLst/>
          </a:prstGeom>
          <a:ln w="15875">
            <a:solidFill>
              <a:srgbClr val="B43B13"/>
            </a:solidFill>
          </a:ln>
        </p:spPr>
      </p:cxnSp>
      <p:graphicFrame>
        <p:nvGraphicFramePr>
          <p:cNvPr id="5" name="Table 4"/>
          <p:cNvGraphicFramePr>
            <a:graphicFrameLocks noGrp="1"/>
          </p:cNvGraphicFramePr>
          <p:nvPr/>
        </p:nvGraphicFramePr>
        <p:xfrm>
          <a:off x="502920" y="1554480"/>
          <a:ext cx="4663440" cy="2834640"/>
        </p:xfrm>
        <a:graphic>
          <a:graphicData uri="http://schemas.openxmlformats.org/drawingml/2006/table">
            <a:tbl>
              <a:tblPr firstRow="1" bandRow="1">
                <a:tableStyleId>{5C22544A-7EE6-4342-B048-85BDC9FD1C3A}</a:tableStyleId>
              </a:tblPr>
              <a:tblGrid>
                <a:gridCol w="3200400"/>
                <a:gridCol w="1463040"/>
              </a:tblGrid>
              <a:tr h="354330">
                <a:tc>
                  <a:txBody>
                    <a:bodyPr/>
                    <a:lstStyle/>
                    <a:p>
                      <a:r>
                        <a:rPr sz="1200" b="1">
                          <a:solidFill>
                            <a:srgbClr val="FFFFFF"/>
                          </a:solidFill>
                          <a:latin typeface="Arial"/>
                        </a:rPr>
                        <a:t>Algorithme</a:t>
                      </a:r>
                    </a:p>
                  </a:txBody>
                  <a:tcPr marT="50800" marB="50800">
                    <a:solidFill>
                      <a:srgbClr val="B43B13"/>
                    </a:solidFill>
                  </a:tcPr>
                </a:tc>
                <a:tc>
                  <a:txBody>
                    <a:bodyPr/>
                    <a:lstStyle/>
                    <a:p>
                      <a:r>
                        <a:rPr sz="1200" b="1">
                          <a:solidFill>
                            <a:srgbClr val="FFFFFF"/>
                          </a:solidFill>
                          <a:latin typeface="Arial"/>
                        </a:rPr>
                        <a:t>Réussite</a:t>
                      </a:r>
                    </a:p>
                  </a:txBody>
                  <a:tcPr marT="50800" marB="50800">
                    <a:solidFill>
                      <a:srgbClr val="B43B13"/>
                    </a:solidFill>
                  </a:tcPr>
                </a:tc>
              </a:tr>
              <a:tr h="354330">
                <a:tc>
                  <a:txBody>
                    <a:bodyPr/>
                    <a:lstStyle/>
                    <a:p>
                      <a:r>
                        <a:rPr sz="1200">
                          <a:solidFill>
                            <a:srgbClr val="252525"/>
                          </a:solidFill>
                          <a:latin typeface="Arial"/>
                        </a:rPr>
                        <a:t>Policy / Value Iteration</a:t>
                      </a:r>
                    </a:p>
                  </a:txBody>
                  <a:tcPr marT="38100" marB="38100">
                    <a:solidFill>
                      <a:srgbClr val="FFFFFF"/>
                    </a:solidFill>
                  </a:tcPr>
                </a:tc>
                <a:tc>
                  <a:txBody>
                    <a:bodyPr/>
                    <a:lstStyle/>
                    <a:p>
                      <a:r>
                        <a:rPr sz="1200">
                          <a:solidFill>
                            <a:srgbClr val="252525"/>
                          </a:solidFill>
                          <a:latin typeface="Arial"/>
                        </a:rPr>
                        <a:t>100 %</a:t>
                      </a:r>
                    </a:p>
                  </a:txBody>
                  <a:tcPr marT="38100" marB="38100">
                    <a:solidFill>
                      <a:srgbClr val="FFFFFF"/>
                    </a:solidFill>
                  </a:tcPr>
                </a:tc>
              </a:tr>
              <a:tr h="354330">
                <a:tc>
                  <a:txBody>
                    <a:bodyPr/>
                    <a:lstStyle/>
                    <a:p>
                      <a:r>
                        <a:rPr sz="1200">
                          <a:solidFill>
                            <a:srgbClr val="252525"/>
                          </a:solidFill>
                          <a:latin typeface="Arial"/>
                        </a:rPr>
                        <a:t>Monte Carlo ES</a:t>
                      </a:r>
                    </a:p>
                  </a:txBody>
                  <a:tcPr marT="38100" marB="38100">
                    <a:solidFill>
                      <a:srgbClr val="F0F0F0"/>
                    </a:solidFill>
                  </a:tcPr>
                </a:tc>
                <a:tc>
                  <a:txBody>
                    <a:bodyPr/>
                    <a:lstStyle/>
                    <a:p>
                      <a:r>
                        <a:rPr sz="1200">
                          <a:solidFill>
                            <a:srgbClr val="252525"/>
                          </a:solidFill>
                          <a:latin typeface="Arial"/>
                        </a:rPr>
                        <a:t>100 %</a:t>
                      </a:r>
                    </a:p>
                  </a:txBody>
                  <a:tcPr marT="38100" marB="38100">
                    <a:solidFill>
                      <a:srgbClr val="F0F0F0"/>
                    </a:solidFill>
                  </a:tcPr>
                </a:tc>
              </a:tr>
              <a:tr h="354330">
                <a:tc>
                  <a:txBody>
                    <a:bodyPr/>
                    <a:lstStyle/>
                    <a:p>
                      <a:r>
                        <a:rPr sz="1200">
                          <a:solidFill>
                            <a:srgbClr val="252525"/>
                          </a:solidFill>
                          <a:latin typeface="Arial"/>
                        </a:rPr>
                        <a:t>On-policy first-visit MC</a:t>
                      </a:r>
                    </a:p>
                  </a:txBody>
                  <a:tcPr marT="38100" marB="38100">
                    <a:solidFill>
                      <a:srgbClr val="FFFFFF"/>
                    </a:solidFill>
                  </a:tcPr>
                </a:tc>
                <a:tc>
                  <a:txBody>
                    <a:bodyPr/>
                    <a:lstStyle/>
                    <a:p>
                      <a:r>
                        <a:rPr sz="1200">
                          <a:solidFill>
                            <a:srgbClr val="252525"/>
                          </a:solidFill>
                          <a:latin typeface="Arial"/>
                        </a:rPr>
                        <a:t>0 %</a:t>
                      </a:r>
                    </a:p>
                  </a:txBody>
                  <a:tcPr marT="38100" marB="38100">
                    <a:solidFill>
                      <a:srgbClr val="FFFFFF"/>
                    </a:solidFill>
                  </a:tcPr>
                </a:tc>
              </a:tr>
              <a:tr h="354330">
                <a:tc>
                  <a:txBody>
                    <a:bodyPr/>
                    <a:lstStyle/>
                    <a:p>
                      <a:r>
                        <a:rPr sz="1200">
                          <a:solidFill>
                            <a:srgbClr val="252525"/>
                          </a:solidFill>
                          <a:latin typeface="Arial"/>
                        </a:rPr>
                        <a:t>Off-policy MC</a:t>
                      </a:r>
                    </a:p>
                  </a:txBody>
                  <a:tcPr marT="38100" marB="38100">
                    <a:solidFill>
                      <a:srgbClr val="F0F0F0"/>
                    </a:solidFill>
                  </a:tcPr>
                </a:tc>
                <a:tc>
                  <a:txBody>
                    <a:bodyPr/>
                    <a:lstStyle/>
                    <a:p>
                      <a:r>
                        <a:rPr sz="1200">
                          <a:solidFill>
                            <a:srgbClr val="252525"/>
                          </a:solidFill>
                          <a:latin typeface="Arial"/>
                        </a:rPr>
                        <a:t>100 %</a:t>
                      </a:r>
                    </a:p>
                  </a:txBody>
                  <a:tcPr marT="38100" marB="38100">
                    <a:solidFill>
                      <a:srgbClr val="F0F0F0"/>
                    </a:solidFill>
                  </a:tcPr>
                </a:tc>
              </a:tr>
              <a:tr h="354330">
                <a:tc>
                  <a:txBody>
                    <a:bodyPr/>
                    <a:lstStyle/>
                    <a:p>
                      <a:r>
                        <a:rPr sz="1200">
                          <a:solidFill>
                            <a:srgbClr val="252525"/>
                          </a:solidFill>
                          <a:latin typeface="Arial"/>
                        </a:rPr>
                        <a:t>Sarsa</a:t>
                      </a:r>
                    </a:p>
                  </a:txBody>
                  <a:tcPr marT="38100" marB="38100">
                    <a:solidFill>
                      <a:srgbClr val="FFFFFF"/>
                    </a:solidFill>
                  </a:tcPr>
                </a:tc>
                <a:tc>
                  <a:txBody>
                    <a:bodyPr/>
                    <a:lstStyle/>
                    <a:p>
                      <a:r>
                        <a:rPr sz="1200">
                          <a:solidFill>
                            <a:srgbClr val="252525"/>
                          </a:solidFill>
                          <a:latin typeface="Arial"/>
                        </a:rPr>
                        <a:t>80 %</a:t>
                      </a:r>
                    </a:p>
                  </a:txBody>
                  <a:tcPr marT="38100" marB="38100">
                    <a:solidFill>
                      <a:srgbClr val="FFFFFF"/>
                    </a:solidFill>
                  </a:tcPr>
                </a:tc>
              </a:tr>
              <a:tr h="354330">
                <a:tc>
                  <a:txBody>
                    <a:bodyPr/>
                    <a:lstStyle/>
                    <a:p>
                      <a:r>
                        <a:rPr sz="1200">
                          <a:solidFill>
                            <a:srgbClr val="252525"/>
                          </a:solidFill>
                          <a:latin typeface="Arial"/>
                        </a:rPr>
                        <a:t>Q-Learning</a:t>
                      </a:r>
                    </a:p>
                  </a:txBody>
                  <a:tcPr marT="38100" marB="38100">
                    <a:solidFill>
                      <a:srgbClr val="F0F0F0"/>
                    </a:solidFill>
                  </a:tcPr>
                </a:tc>
                <a:tc>
                  <a:txBody>
                    <a:bodyPr/>
                    <a:lstStyle/>
                    <a:p>
                      <a:r>
                        <a:rPr sz="1200">
                          <a:solidFill>
                            <a:srgbClr val="252525"/>
                          </a:solidFill>
                          <a:latin typeface="Arial"/>
                        </a:rPr>
                        <a:t>100 %</a:t>
                      </a:r>
                    </a:p>
                  </a:txBody>
                  <a:tcPr marT="38100" marB="38100">
                    <a:solidFill>
                      <a:srgbClr val="F0F0F0"/>
                    </a:solidFill>
                  </a:tcPr>
                </a:tc>
              </a:tr>
              <a:tr h="354330">
                <a:tc>
                  <a:txBody>
                    <a:bodyPr/>
                    <a:lstStyle/>
                    <a:p>
                      <a:r>
                        <a:rPr sz="1200">
                          <a:solidFill>
                            <a:srgbClr val="252525"/>
                          </a:solidFill>
                          <a:latin typeface="Arial"/>
                        </a:rPr>
                        <a:t>Dyna-Q</a:t>
                      </a:r>
                    </a:p>
                  </a:txBody>
                  <a:tcPr marT="38100" marB="38100">
                    <a:solidFill>
                      <a:srgbClr val="FFFFFF"/>
                    </a:solidFill>
                  </a:tcPr>
                </a:tc>
                <a:tc>
                  <a:txBody>
                    <a:bodyPr/>
                    <a:lstStyle/>
                    <a:p>
                      <a:r>
                        <a:rPr sz="1200">
                          <a:solidFill>
                            <a:srgbClr val="252525"/>
                          </a:solidFill>
                          <a:latin typeface="Arial"/>
                        </a:rPr>
                        <a:t>100 %</a:t>
                      </a:r>
                    </a:p>
                  </a:txBody>
                  <a:tcPr marT="38100" marB="38100">
                    <a:solidFill>
                      <a:srgbClr val="FFFFFF"/>
                    </a:solidFill>
                  </a:tcPr>
                </a:tc>
              </a:tr>
            </a:tbl>
          </a:graphicData>
        </a:graphic>
      </p:graphicFrame>
      <p:sp>
        <p:nvSpPr>
          <p:cNvPr id="6" name="TextBox 5"/>
          <p:cNvSpPr txBox="1"/>
          <p:nvPr/>
        </p:nvSpPr>
        <p:spPr>
          <a:xfrm>
            <a:off x="5394960" y="1600200"/>
            <a:ext cx="3246120" cy="2834640"/>
          </a:xfrm>
          <a:prstGeom prst="rect">
            <a:avLst/>
          </a:prstGeom>
          <a:noFill/>
        </p:spPr>
        <p:txBody>
          <a:bodyPr wrap="square">
            <a:spAutoFit/>
          </a:bodyPr>
          <a:lstStyle/>
          <a:p>
            <a:pPr>
              <a:lnSpc>
                <a:spcPct val="108000"/>
              </a:lnSpc>
              <a:spcAft>
                <a:spcPts val="1000"/>
              </a:spcAft>
            </a:pPr>
            <a:r>
              <a:rPr b="1" sz="1200">
                <a:solidFill>
                  <a:srgbClr val="B43B13"/>
                </a:solidFill>
                <a:latin typeface="Arial"/>
              </a:rPr>
              <a:t>•  </a:t>
            </a:r>
            <a:r>
              <a:rPr sz="1200">
                <a:solidFill>
                  <a:srgbClr val="252525"/>
                </a:solidFill>
                <a:latin typeface="Arial"/>
              </a:rPr>
              <a:t>L'on-policy MC control échoue totalement : il a besoin d'un épisode complet pour apprendre quoi que ce soit, or peu d'épisodes atteignent un état terminal.</a:t>
            </a:r>
          </a:p>
          <a:p>
            <a:pPr>
              <a:lnSpc>
                <a:spcPct val="108000"/>
              </a:lnSpc>
              <a:spcAft>
                <a:spcPts val="1000"/>
              </a:spcAft>
            </a:pPr>
            <a:r>
              <a:rPr b="1" sz="1200">
                <a:solidFill>
                  <a:srgbClr val="B43B13"/>
                </a:solidFill>
                <a:latin typeface="Arial"/>
              </a:rPr>
              <a:t>•  </a:t>
            </a:r>
            <a:r>
              <a:rPr sz="1200">
                <a:solidFill>
                  <a:srgbClr val="252525"/>
                </a:solidFill>
                <a:latin typeface="Arial"/>
              </a:rPr>
              <a:t>Sarsa et Q-Learning apprennent à chaque pas grâce au bootstrap, ce qui les rend plus robustes face à ce même problème.</a:t>
            </a:r>
          </a:p>
        </p:txBody>
      </p:sp>
      <p:cxnSp>
        <p:nvCxnSpPr>
          <p:cNvPr id="7" name="Connector 6"/>
          <p:cNvCxnSpPr/>
          <p:nvPr/>
        </p:nvCxnSpPr>
        <p:spPr>
          <a:xfrm>
            <a:off x="502920" y="4736592"/>
            <a:ext cx="8138160" cy="0"/>
          </a:xfrm>
          <a:prstGeom prst="line">
            <a:avLst/>
          </a:prstGeom>
          <a:ln w="9525">
            <a:solidFill>
              <a:srgbClr val="B43B13"/>
            </a:solidFill>
          </a:ln>
        </p:spPr>
      </p:cxnSp>
      <p:sp>
        <p:nvSpPr>
          <p:cNvPr id="8" name="TextBox 7"/>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9" name="TextBox 8"/>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Hyperparamètres</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600" b="1" i="0">
                <a:solidFill>
                  <a:srgbClr val="252525"/>
                </a:solidFill>
                <a:latin typeface="Arial"/>
              </a:rPr>
              <a:t>IMPACT DES </a:t>
            </a:r>
            <a:r>
              <a:rPr sz="2600" b="0" i="1">
                <a:solidFill>
                  <a:srgbClr val="252525"/>
                </a:solidFill>
                <a:latin typeface="Georgia"/>
              </a:rPr>
              <a:t>hyperparamètres</a:t>
            </a:r>
          </a:p>
        </p:txBody>
      </p:sp>
      <p:cxnSp>
        <p:nvCxnSpPr>
          <p:cNvPr id="4" name="Connector 3"/>
          <p:cNvCxnSpPr/>
          <p:nvPr/>
        </p:nvCxnSpPr>
        <p:spPr>
          <a:xfrm>
            <a:off x="502920" y="1325880"/>
            <a:ext cx="8138160" cy="0"/>
          </a:xfrm>
          <a:prstGeom prst="line">
            <a:avLst/>
          </a:prstGeom>
          <a:ln w="15875">
            <a:solidFill>
              <a:srgbClr val="B43B13"/>
            </a:solidFill>
          </a:ln>
        </p:spPr>
      </p:cxnSp>
      <p:sp>
        <p:nvSpPr>
          <p:cNvPr id="5" name="TextBox 4"/>
          <p:cNvSpPr txBox="1"/>
          <p:nvPr/>
        </p:nvSpPr>
        <p:spPr>
          <a:xfrm>
            <a:off x="502920" y="1554480"/>
            <a:ext cx="8138160" cy="274320"/>
          </a:xfrm>
          <a:prstGeom prst="rect">
            <a:avLst/>
          </a:prstGeom>
          <a:noFill/>
        </p:spPr>
        <p:txBody>
          <a:bodyPr wrap="square">
            <a:spAutoFit/>
          </a:bodyPr>
          <a:lstStyle/>
          <a:p>
            <a:pPr algn="l">
              <a:lnSpc>
                <a:spcPct val="100000"/>
              </a:lnSpc>
            </a:pPr>
            <a:r>
              <a:rPr sz="1300" b="1" i="0">
                <a:solidFill>
                  <a:srgbClr val="B43B13"/>
                </a:solidFill>
                <a:latin typeface="Arial"/>
              </a:rPr>
              <a:t>EPSILON, SUR GRID WORLD</a:t>
            </a:r>
          </a:p>
        </p:txBody>
      </p:sp>
      <p:sp>
        <p:nvSpPr>
          <p:cNvPr id="6" name="TextBox 5"/>
          <p:cNvSpPr txBox="1"/>
          <p:nvPr/>
        </p:nvSpPr>
        <p:spPr>
          <a:xfrm>
            <a:off x="502920" y="1847088"/>
            <a:ext cx="8138160" cy="685800"/>
          </a:xfrm>
          <a:prstGeom prst="rect">
            <a:avLst/>
          </a:prstGeom>
          <a:noFill/>
        </p:spPr>
        <p:txBody>
          <a:bodyPr wrap="square">
            <a:spAutoFit/>
          </a:bodyPr>
          <a:lstStyle/>
          <a:p>
            <a:pPr algn="l">
              <a:lnSpc>
                <a:spcPct val="115000"/>
              </a:lnSpc>
            </a:pPr>
            <a:r>
              <a:rPr sz="1200" b="0" i="0">
                <a:solidFill>
                  <a:srgbClr val="252525"/>
                </a:solidFill>
                <a:latin typeface="Arial"/>
              </a:rPr>
              <a:t>Plus epsilon augmente, plus Sarsa se dégrade (80% à 40% entre 0,1 et 0,8), alors que l'on-policy MC control fait l'inverse, de 0% à 80% : il a besoin de beaucoup d'exploration pour terminer un épisode ne serait-ce qu'une fois.</a:t>
            </a:r>
          </a:p>
        </p:txBody>
      </p:sp>
      <p:sp>
        <p:nvSpPr>
          <p:cNvPr id="7" name="TextBox 6"/>
          <p:cNvSpPr txBox="1"/>
          <p:nvPr/>
        </p:nvSpPr>
        <p:spPr>
          <a:xfrm>
            <a:off x="502920" y="2514600"/>
            <a:ext cx="8138160" cy="274320"/>
          </a:xfrm>
          <a:prstGeom prst="rect">
            <a:avLst/>
          </a:prstGeom>
          <a:noFill/>
        </p:spPr>
        <p:txBody>
          <a:bodyPr wrap="square">
            <a:spAutoFit/>
          </a:bodyPr>
          <a:lstStyle/>
          <a:p>
            <a:pPr algn="l">
              <a:lnSpc>
                <a:spcPct val="100000"/>
              </a:lnSpc>
            </a:pPr>
            <a:r>
              <a:rPr sz="1300" b="1" i="0">
                <a:solidFill>
                  <a:srgbClr val="B43B13"/>
                </a:solidFill>
                <a:latin typeface="Arial"/>
              </a:rPr>
              <a:t>NOMBRE DE PAS DE PLANIFICATION, POUR DYNA-Q</a:t>
            </a:r>
          </a:p>
        </p:txBody>
      </p:sp>
      <p:sp>
        <p:nvSpPr>
          <p:cNvPr id="8" name="TextBox 7"/>
          <p:cNvSpPr txBox="1"/>
          <p:nvPr/>
        </p:nvSpPr>
        <p:spPr>
          <a:xfrm>
            <a:off x="502920" y="2807208"/>
            <a:ext cx="8138160" cy="685800"/>
          </a:xfrm>
          <a:prstGeom prst="rect">
            <a:avLst/>
          </a:prstGeom>
          <a:noFill/>
        </p:spPr>
        <p:txBody>
          <a:bodyPr wrap="square">
            <a:spAutoFit/>
          </a:bodyPr>
          <a:lstStyle/>
          <a:p>
            <a:pPr algn="l">
              <a:lnSpc>
                <a:spcPct val="115000"/>
              </a:lnSpc>
            </a:pPr>
            <a:r>
              <a:rPr sz="1200" b="0" i="0">
                <a:solidFill>
                  <a:srgbClr val="252525"/>
                </a:solidFill>
                <a:latin typeface="Arial"/>
              </a:rPr>
              <a:t>À nombre d'épisodes réels identique (500), Dyna-Q sans planification revient à du Q-Learning et atteint 80% de réussite. Dès 5 pas de planification, il atteint 100%.</a:t>
            </a:r>
          </a:p>
        </p:txBody>
      </p:sp>
      <p:sp>
        <p:nvSpPr>
          <p:cNvPr id="9" name="TextBox 8"/>
          <p:cNvSpPr txBox="1"/>
          <p:nvPr/>
        </p:nvSpPr>
        <p:spPr>
          <a:xfrm>
            <a:off x="502920" y="3474720"/>
            <a:ext cx="8138160" cy="274320"/>
          </a:xfrm>
          <a:prstGeom prst="rect">
            <a:avLst/>
          </a:prstGeom>
          <a:noFill/>
        </p:spPr>
        <p:txBody>
          <a:bodyPr wrap="square">
            <a:spAutoFit/>
          </a:bodyPr>
          <a:lstStyle/>
          <a:p>
            <a:pPr algn="l">
              <a:lnSpc>
                <a:spcPct val="100000"/>
              </a:lnSpc>
            </a:pPr>
            <a:r>
              <a:rPr sz="1300" b="1" i="0">
                <a:solidFill>
                  <a:srgbClr val="B43B13"/>
                </a:solidFill>
                <a:latin typeface="Arial"/>
              </a:rPr>
              <a:t>GAMMA, AVEC VALUE ITERATION SUR GRID WORLD</a:t>
            </a:r>
          </a:p>
        </p:txBody>
      </p:sp>
      <p:sp>
        <p:nvSpPr>
          <p:cNvPr id="10" name="TextBox 9"/>
          <p:cNvSpPr txBox="1"/>
          <p:nvPr/>
        </p:nvSpPr>
        <p:spPr>
          <a:xfrm>
            <a:off x="502920" y="3767328"/>
            <a:ext cx="8138160" cy="685800"/>
          </a:xfrm>
          <a:prstGeom prst="rect">
            <a:avLst/>
          </a:prstGeom>
          <a:noFill/>
        </p:spPr>
        <p:txBody>
          <a:bodyPr wrap="square">
            <a:spAutoFit/>
          </a:bodyPr>
          <a:lstStyle/>
          <a:p>
            <a:pPr algn="l">
              <a:lnSpc>
                <a:spcPct val="115000"/>
              </a:lnSpc>
            </a:pPr>
            <a:r>
              <a:rPr sz="1200" b="0" i="0">
                <a:solidFill>
                  <a:srgbClr val="252525"/>
                </a:solidFill>
                <a:latin typeface="Arial"/>
              </a:rPr>
              <a:t>La valeur calculée pour l'état de départ passe de 0,008 avec gamma à 0,5, à 0,478 à 0,9, 0,932 à 0,99, et proche de 1 à 0,999999.</a:t>
            </a:r>
          </a:p>
        </p:txBody>
      </p:sp>
      <p:cxnSp>
        <p:nvCxnSpPr>
          <p:cNvPr id="11" name="Connector 10"/>
          <p:cNvCxnSpPr/>
          <p:nvPr/>
        </p:nvCxnSpPr>
        <p:spPr>
          <a:xfrm>
            <a:off x="502920" y="4736592"/>
            <a:ext cx="8138160" cy="0"/>
          </a:xfrm>
          <a:prstGeom prst="line">
            <a:avLst/>
          </a:prstGeom>
          <a:ln w="9525">
            <a:solidFill>
              <a:srgbClr val="B43B13"/>
            </a:solidFill>
          </a:ln>
        </p:spPr>
      </p:cxnSp>
      <p:sp>
        <p:nvSpPr>
          <p:cNvPr id="12" name="TextBox 11"/>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13" name="TextBox 12"/>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Résultats</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600" b="1" i="0">
                <a:solidFill>
                  <a:srgbClr val="252525"/>
                </a:solidFill>
                <a:latin typeface="Arial"/>
              </a:rPr>
              <a:t>SUR LES ENVIRONNEMENTS </a:t>
            </a:r>
            <a:r>
              <a:rPr sz="2600" b="0" i="1">
                <a:solidFill>
                  <a:srgbClr val="252525"/>
                </a:solidFill>
                <a:latin typeface="Georgia"/>
              </a:rPr>
              <a:t>secrets</a:t>
            </a:r>
          </a:p>
        </p:txBody>
      </p:sp>
      <p:cxnSp>
        <p:nvCxnSpPr>
          <p:cNvPr id="4" name="Connector 3"/>
          <p:cNvCxnSpPr/>
          <p:nvPr/>
        </p:nvCxnSpPr>
        <p:spPr>
          <a:xfrm>
            <a:off x="502920" y="1325880"/>
            <a:ext cx="8138160" cy="0"/>
          </a:xfrm>
          <a:prstGeom prst="line">
            <a:avLst/>
          </a:prstGeom>
          <a:ln w="15875">
            <a:solidFill>
              <a:srgbClr val="B43B13"/>
            </a:solidFill>
          </a:ln>
        </p:spPr>
      </p:cxnSp>
      <p:graphicFrame>
        <p:nvGraphicFramePr>
          <p:cNvPr id="5" name="Table 4"/>
          <p:cNvGraphicFramePr>
            <a:graphicFrameLocks noGrp="1"/>
          </p:cNvGraphicFramePr>
          <p:nvPr/>
        </p:nvGraphicFramePr>
        <p:xfrm>
          <a:off x="502920" y="1554480"/>
          <a:ext cx="8138160" cy="1600200"/>
        </p:xfrm>
        <a:graphic>
          <a:graphicData uri="http://schemas.openxmlformats.org/drawingml/2006/table">
            <a:tbl>
              <a:tblPr firstRow="1" bandRow="1">
                <a:tableStyleId>{5C22544A-7EE6-4342-B048-85BDC9FD1C3A}</a:tableStyleId>
              </a:tblPr>
              <a:tblGrid>
                <a:gridCol w="3291840"/>
                <a:gridCol w="2468880"/>
                <a:gridCol w="2377440"/>
              </a:tblGrid>
              <a:tr h="320040">
                <a:tc>
                  <a:txBody>
                    <a:bodyPr/>
                    <a:lstStyle/>
                    <a:p>
                      <a:r>
                        <a:rPr sz="1200" b="1">
                          <a:solidFill>
                            <a:srgbClr val="FFFFFF"/>
                          </a:solidFill>
                          <a:latin typeface="Arial"/>
                        </a:rPr>
                        <a:t>Environnement</a:t>
                      </a:r>
                    </a:p>
                  </a:txBody>
                  <a:tcPr marT="50800" marB="50800">
                    <a:solidFill>
                      <a:srgbClr val="B43B13"/>
                    </a:solidFill>
                  </a:tcPr>
                </a:tc>
                <a:tc>
                  <a:txBody>
                    <a:bodyPr/>
                    <a:lstStyle/>
                    <a:p>
                      <a:r>
                        <a:rPr sz="1200" b="1">
                          <a:solidFill>
                            <a:srgbClr val="FFFFFF"/>
                          </a:solidFill>
                          <a:latin typeface="Arial"/>
                        </a:rPr>
                        <a:t>Meilleur algorithme</a:t>
                      </a:r>
                    </a:p>
                  </a:txBody>
                  <a:tcPr marT="50800" marB="50800">
                    <a:solidFill>
                      <a:srgbClr val="B43B13"/>
                    </a:solidFill>
                  </a:tcPr>
                </a:tc>
                <a:tc>
                  <a:txBody>
                    <a:bodyPr/>
                    <a:lstStyle/>
                    <a:p>
                      <a:r>
                        <a:rPr sz="1200" b="1">
                          <a:solidFill>
                            <a:srgbClr val="FFFFFF"/>
                          </a:solidFill>
                          <a:latin typeface="Arial"/>
                        </a:rPr>
                        <a:t>Score moyen</a:t>
                      </a:r>
                    </a:p>
                  </a:txBody>
                  <a:tcPr marT="50800" marB="50800">
                    <a:solidFill>
                      <a:srgbClr val="B43B13"/>
                    </a:solidFill>
                  </a:tcPr>
                </a:tc>
              </a:tr>
              <a:tr h="320040">
                <a:tc>
                  <a:txBody>
                    <a:bodyPr/>
                    <a:lstStyle/>
                    <a:p>
                      <a:r>
                        <a:rPr sz="1150">
                          <a:solidFill>
                            <a:srgbClr val="252525"/>
                          </a:solidFill>
                          <a:latin typeface="Arial"/>
                        </a:rPr>
                        <a:t>Secret Env 0 (8 192 états)</a:t>
                      </a:r>
                    </a:p>
                  </a:txBody>
                  <a:tcPr marT="38100" marB="38100">
                    <a:solidFill>
                      <a:srgbClr val="FFFFFF"/>
                    </a:solidFill>
                  </a:tcPr>
                </a:tc>
                <a:tc>
                  <a:txBody>
                    <a:bodyPr/>
                    <a:lstStyle/>
                    <a:p>
                      <a:r>
                        <a:rPr sz="1150">
                          <a:solidFill>
                            <a:srgbClr val="252525"/>
                          </a:solidFill>
                          <a:latin typeface="Arial"/>
                        </a:rPr>
                        <a:t>Dyna-Q / MC on-policy</a:t>
                      </a:r>
                    </a:p>
                  </a:txBody>
                  <a:tcPr marT="38100" marB="38100">
                    <a:solidFill>
                      <a:srgbClr val="FFFFFF"/>
                    </a:solidFill>
                  </a:tcPr>
                </a:tc>
                <a:tc>
                  <a:txBody>
                    <a:bodyPr/>
                    <a:lstStyle/>
                    <a:p>
                      <a:r>
                        <a:rPr sz="1150">
                          <a:solidFill>
                            <a:srgbClr val="252525"/>
                          </a:solidFill>
                          <a:latin typeface="Arial"/>
                        </a:rPr>
                        <a:t>10.0</a:t>
                      </a:r>
                    </a:p>
                  </a:txBody>
                  <a:tcPr marT="38100" marB="38100">
                    <a:solidFill>
                      <a:srgbClr val="FFFFFF"/>
                    </a:solidFill>
                  </a:tcPr>
                </a:tc>
              </a:tr>
              <a:tr h="320040">
                <a:tc>
                  <a:txBody>
                    <a:bodyPr/>
                    <a:lstStyle/>
                    <a:p>
                      <a:r>
                        <a:rPr sz="1150">
                          <a:solidFill>
                            <a:srgbClr val="252525"/>
                          </a:solidFill>
                          <a:latin typeface="Arial"/>
                        </a:rPr>
                        <a:t>Secret Env 1 (65 536 états)</a:t>
                      </a:r>
                    </a:p>
                  </a:txBody>
                  <a:tcPr marT="38100" marB="38100">
                    <a:solidFill>
                      <a:srgbClr val="F0F0F0"/>
                    </a:solidFill>
                  </a:tcPr>
                </a:tc>
                <a:tc>
                  <a:txBody>
                    <a:bodyPr/>
                    <a:lstStyle/>
                    <a:p>
                      <a:r>
                        <a:rPr sz="1150">
                          <a:solidFill>
                            <a:srgbClr val="252525"/>
                          </a:solidFill>
                          <a:latin typeface="Arial"/>
                        </a:rPr>
                        <a:t>Dyna-Q</a:t>
                      </a:r>
                    </a:p>
                  </a:txBody>
                  <a:tcPr marT="38100" marB="38100">
                    <a:solidFill>
                      <a:srgbClr val="F0F0F0"/>
                    </a:solidFill>
                  </a:tcPr>
                </a:tc>
                <a:tc>
                  <a:txBody>
                    <a:bodyPr/>
                    <a:lstStyle/>
                    <a:p>
                      <a:r>
                        <a:rPr sz="1150">
                          <a:solidFill>
                            <a:srgbClr val="252525"/>
                          </a:solidFill>
                          <a:latin typeface="Arial"/>
                        </a:rPr>
                        <a:t>31.0</a:t>
                      </a:r>
                    </a:p>
                  </a:txBody>
                  <a:tcPr marT="38100" marB="38100">
                    <a:solidFill>
                      <a:srgbClr val="F0F0F0"/>
                    </a:solidFill>
                  </a:tcPr>
                </a:tc>
              </a:tr>
              <a:tr h="320040">
                <a:tc>
                  <a:txBody>
                    <a:bodyPr/>
                    <a:lstStyle/>
                    <a:p>
                      <a:r>
                        <a:rPr sz="1150">
                          <a:solidFill>
                            <a:srgbClr val="252525"/>
                          </a:solidFill>
                          <a:latin typeface="Arial"/>
                        </a:rPr>
                        <a:t>Secret Env 2 (2 097 152 états)</a:t>
                      </a:r>
                    </a:p>
                  </a:txBody>
                  <a:tcPr marT="38100" marB="38100">
                    <a:solidFill>
                      <a:srgbClr val="FFFFFF"/>
                    </a:solidFill>
                  </a:tcPr>
                </a:tc>
                <a:tc>
                  <a:txBody>
                    <a:bodyPr/>
                    <a:lstStyle/>
                    <a:p>
                      <a:r>
                        <a:rPr sz="1150">
                          <a:solidFill>
                            <a:srgbClr val="252525"/>
                          </a:solidFill>
                          <a:latin typeface="Arial"/>
                        </a:rPr>
                        <a:t>Dyna-Q</a:t>
                      </a:r>
                    </a:p>
                  </a:txBody>
                  <a:tcPr marT="38100" marB="38100">
                    <a:solidFill>
                      <a:srgbClr val="FFFFFF"/>
                    </a:solidFill>
                  </a:tcPr>
                </a:tc>
                <a:tc>
                  <a:txBody>
                    <a:bodyPr/>
                    <a:lstStyle/>
                    <a:p>
                      <a:r>
                        <a:rPr sz="1150">
                          <a:solidFill>
                            <a:srgbClr val="252525"/>
                          </a:solidFill>
                          <a:latin typeface="Arial"/>
                        </a:rPr>
                        <a:t>-14.0 (budget insuffisant)</a:t>
                      </a:r>
                    </a:p>
                  </a:txBody>
                  <a:tcPr marT="38100" marB="38100">
                    <a:solidFill>
                      <a:srgbClr val="FFFFFF"/>
                    </a:solidFill>
                  </a:tcPr>
                </a:tc>
              </a:tr>
              <a:tr h="320040">
                <a:tc>
                  <a:txBody>
                    <a:bodyPr/>
                    <a:lstStyle/>
                    <a:p>
                      <a:r>
                        <a:rPr sz="1150">
                          <a:solidFill>
                            <a:srgbClr val="252525"/>
                          </a:solidFill>
                          <a:latin typeface="Arial"/>
                        </a:rPr>
                        <a:t>Secret Env 3 (65 536 états)</a:t>
                      </a:r>
                    </a:p>
                  </a:txBody>
                  <a:tcPr marT="38100" marB="38100">
                    <a:solidFill>
                      <a:srgbClr val="F0F0F0"/>
                    </a:solidFill>
                  </a:tcPr>
                </a:tc>
                <a:tc>
                  <a:txBody>
                    <a:bodyPr/>
                    <a:lstStyle/>
                    <a:p>
                      <a:r>
                        <a:rPr sz="1150">
                          <a:solidFill>
                            <a:srgbClr val="252525"/>
                          </a:solidFill>
                          <a:latin typeface="Arial"/>
                        </a:rPr>
                        <a:t>Sarsa</a:t>
                      </a:r>
                    </a:p>
                  </a:txBody>
                  <a:tcPr marT="38100" marB="38100">
                    <a:solidFill>
                      <a:srgbClr val="F0F0F0"/>
                    </a:solidFill>
                  </a:tcPr>
                </a:tc>
                <a:tc>
                  <a:txBody>
                    <a:bodyPr/>
                    <a:lstStyle/>
                    <a:p>
                      <a:r>
                        <a:rPr sz="1150">
                          <a:solidFill>
                            <a:srgbClr val="252525"/>
                          </a:solidFill>
                          <a:latin typeface="Arial"/>
                        </a:rPr>
                        <a:t>14.8</a:t>
                      </a:r>
                    </a:p>
                  </a:txBody>
                  <a:tcPr marT="38100" marB="38100">
                    <a:solidFill>
                      <a:srgbClr val="F0F0F0"/>
                    </a:solidFill>
                  </a:tcPr>
                </a:tc>
              </a:tr>
            </a:tbl>
          </a:graphicData>
        </a:graphic>
      </p:graphicFrame>
      <p:sp>
        <p:nvSpPr>
          <p:cNvPr id="6" name="TextBox 5"/>
          <p:cNvSpPr txBox="1"/>
          <p:nvPr/>
        </p:nvSpPr>
        <p:spPr>
          <a:xfrm>
            <a:off x="502920" y="3383280"/>
            <a:ext cx="8138160" cy="1188720"/>
          </a:xfrm>
          <a:prstGeom prst="rect">
            <a:avLst/>
          </a:prstGeom>
          <a:noFill/>
        </p:spPr>
        <p:txBody>
          <a:bodyPr wrap="square">
            <a:spAutoFit/>
          </a:bodyPr>
          <a:lstStyle/>
          <a:p>
            <a:pPr>
              <a:lnSpc>
                <a:spcPct val="108000"/>
              </a:lnSpc>
              <a:spcAft>
                <a:spcPts val="1000"/>
              </a:spcAft>
            </a:pPr>
            <a:r>
              <a:rPr b="1" sz="1150">
                <a:solidFill>
                  <a:srgbClr val="B43B13"/>
                </a:solidFill>
                <a:latin typeface="Arial"/>
              </a:rPr>
              <a:t>•  </a:t>
            </a:r>
            <a:r>
              <a:rPr sz="1150">
                <a:solidFill>
                  <a:srgbClr val="252525"/>
                </a:solidFill>
                <a:latin typeface="Arial"/>
              </a:rPr>
              <a:t>On a trouvé et corrigé un vrai bug : evaluate_policy et replay_policy choisissaient l'action gloutonne sans vérifier qu'elle était disponible dans l'état courant, ce qui faisait planter le programme sur Secret Env 3. La correction restreint ce choix aux actions réellement jouables.</a:t>
            </a:r>
          </a:p>
          <a:p>
            <a:pPr>
              <a:lnSpc>
                <a:spcPct val="108000"/>
              </a:lnSpc>
              <a:spcAft>
                <a:spcPts val="1000"/>
              </a:spcAft>
            </a:pPr>
            <a:r>
              <a:rPr b="1" sz="1150">
                <a:solidFill>
                  <a:srgbClr val="B43B13"/>
                </a:solidFill>
                <a:latin typeface="Arial"/>
              </a:rPr>
              <a:t>•  </a:t>
            </a:r>
            <a:r>
              <a:rPr sz="1150">
                <a:solidFill>
                  <a:srgbClr val="252525"/>
                </a:solidFill>
                <a:latin typeface="Arial"/>
              </a:rPr>
              <a:t>Dyna-Q confirme l'avantage de la planification sur les environnements 0 et 1 ; sur l'environnement 2, le budget d'itérations reste trop faible pour un espace de 2 millions d'états.</a:t>
            </a:r>
          </a:p>
        </p:txBody>
      </p:sp>
      <p:cxnSp>
        <p:nvCxnSpPr>
          <p:cNvPr id="7" name="Connector 6"/>
          <p:cNvCxnSpPr/>
          <p:nvPr/>
        </p:nvCxnSpPr>
        <p:spPr>
          <a:xfrm>
            <a:off x="502920" y="4736592"/>
            <a:ext cx="8138160" cy="0"/>
          </a:xfrm>
          <a:prstGeom prst="line">
            <a:avLst/>
          </a:prstGeom>
          <a:ln w="9525">
            <a:solidFill>
              <a:srgbClr val="B43B13"/>
            </a:solidFill>
          </a:ln>
        </p:spPr>
      </p:cxnSp>
      <p:sp>
        <p:nvSpPr>
          <p:cNvPr id="8" name="TextBox 7"/>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9" name="TextBox 8"/>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B43B13"/>
                </a:solidFill>
                <a:latin typeface="Arial"/>
              </a:rPr>
              <a:t>Synthèse</a:t>
            </a:r>
          </a:p>
        </p:txBody>
      </p:sp>
      <p:sp>
        <p:nvSpPr>
          <p:cNvPr id="3" name="TextBox 2"/>
          <p:cNvSpPr txBox="1"/>
          <p:nvPr/>
        </p:nvSpPr>
        <p:spPr>
          <a:xfrm>
            <a:off x="502920" y="640080"/>
            <a:ext cx="8138160" cy="731520"/>
          </a:xfrm>
          <a:prstGeom prst="rect">
            <a:avLst/>
          </a:prstGeom>
          <a:noFill/>
        </p:spPr>
        <p:txBody>
          <a:bodyPr wrap="square">
            <a:spAutoFit/>
          </a:bodyPr>
          <a:lstStyle/>
          <a:p>
            <a:pPr algn="l">
              <a:lnSpc>
                <a:spcPct val="105000"/>
              </a:lnSpc>
            </a:pPr>
            <a:r>
              <a:rPr sz="2500" b="1" i="0">
                <a:solidFill>
                  <a:srgbClr val="252525"/>
                </a:solidFill>
                <a:latin typeface="Arial"/>
              </a:rPr>
              <a:t>QUEL ALGORITHME </a:t>
            </a:r>
            <a:r>
              <a:rPr sz="2500" b="0" i="1">
                <a:solidFill>
                  <a:srgbClr val="252525"/>
                </a:solidFill>
                <a:latin typeface="Georgia"/>
              </a:rPr>
              <a:t>choisir</a:t>
            </a:r>
            <a:r>
              <a:rPr sz="2500" b="1" i="0">
                <a:solidFill>
                  <a:srgbClr val="252525"/>
                </a:solidFill>
                <a:latin typeface="Arial"/>
              </a:rPr>
              <a:t>, ET POURQUOI</a:t>
            </a:r>
          </a:p>
        </p:txBody>
      </p:sp>
      <p:cxnSp>
        <p:nvCxnSpPr>
          <p:cNvPr id="4" name="Connector 3"/>
          <p:cNvCxnSpPr/>
          <p:nvPr/>
        </p:nvCxnSpPr>
        <p:spPr>
          <a:xfrm>
            <a:off x="502920" y="1325880"/>
            <a:ext cx="8138160" cy="0"/>
          </a:xfrm>
          <a:prstGeom prst="line">
            <a:avLst/>
          </a:prstGeom>
          <a:ln w="15875">
            <a:solidFill>
              <a:srgbClr val="B43B13"/>
            </a:solidFill>
          </a:ln>
        </p:spPr>
      </p:cxnSp>
      <p:sp>
        <p:nvSpPr>
          <p:cNvPr id="5" name="TextBox 4"/>
          <p:cNvSpPr txBox="1"/>
          <p:nvPr/>
        </p:nvSpPr>
        <p:spPr>
          <a:xfrm>
            <a:off x="502920" y="1554480"/>
            <a:ext cx="8138160" cy="3017520"/>
          </a:xfrm>
          <a:prstGeom prst="rect">
            <a:avLst/>
          </a:prstGeom>
          <a:noFill/>
        </p:spPr>
        <p:txBody>
          <a:bodyPr wrap="square">
            <a:spAutoFit/>
          </a:bodyPr>
          <a:lstStyle/>
          <a:p>
            <a:pPr>
              <a:lnSpc>
                <a:spcPct val="108000"/>
              </a:lnSpc>
              <a:spcAft>
                <a:spcPts val="1000"/>
              </a:spcAft>
            </a:pPr>
            <a:r>
              <a:rPr b="1" sz="1300">
                <a:solidFill>
                  <a:srgbClr val="B43B13"/>
                </a:solidFill>
                <a:latin typeface="Arial"/>
              </a:rPr>
              <a:t>•  </a:t>
            </a:r>
            <a:r>
              <a:rPr sz="1300">
                <a:solidFill>
                  <a:srgbClr val="252525"/>
                </a:solidFill>
                <a:latin typeface="Arial"/>
              </a:rPr>
              <a:t>Quand le modèle de l'environnement est connu à l'avance, Policy et Value Iteration restent le choix le plus sûr et le plus rapide, sans avoir besoin d'explorer.</a:t>
            </a:r>
          </a:p>
          <a:p>
            <a:pPr>
              <a:lnSpc>
                <a:spcPct val="108000"/>
              </a:lnSpc>
              <a:spcAft>
                <a:spcPts val="1000"/>
              </a:spcAft>
            </a:pPr>
            <a:r>
              <a:rPr b="1" sz="1300">
                <a:solidFill>
                  <a:srgbClr val="B43B13"/>
                </a:solidFill>
                <a:latin typeface="Arial"/>
              </a:rPr>
              <a:t>•  </a:t>
            </a:r>
            <a:r>
              <a:rPr sz="1300">
                <a:solidFill>
                  <a:srgbClr val="252525"/>
                </a:solidFill>
                <a:latin typeface="Arial"/>
              </a:rPr>
              <a:t>Quand le modèle est inconnu, Q-Learning est la méthode la plus robuste dans l'ensemble.</a:t>
            </a:r>
          </a:p>
          <a:p>
            <a:pPr>
              <a:lnSpc>
                <a:spcPct val="108000"/>
              </a:lnSpc>
              <a:spcAft>
                <a:spcPts val="1000"/>
              </a:spcAft>
            </a:pPr>
            <a:r>
              <a:rPr b="1" sz="1300">
                <a:solidFill>
                  <a:srgbClr val="B43B13"/>
                </a:solidFill>
                <a:latin typeface="Arial"/>
              </a:rPr>
              <a:t>•  </a:t>
            </a:r>
            <a:r>
              <a:rPr sz="1300">
                <a:solidFill>
                  <a:srgbClr val="252525"/>
                </a:solidFill>
                <a:latin typeface="Arial"/>
              </a:rPr>
              <a:t>Dyna-Q apprend plus vite que Q-Learning à nombre d'épisodes égal, mais reste le moins fiable sur Monty Hall, sans doute parce que son modèle appris suppose un environnement déterministe.</a:t>
            </a:r>
          </a:p>
          <a:p>
            <a:pPr>
              <a:lnSpc>
                <a:spcPct val="108000"/>
              </a:lnSpc>
              <a:spcAft>
                <a:spcPts val="1000"/>
              </a:spcAft>
            </a:pPr>
            <a:r>
              <a:rPr b="1" sz="1300">
                <a:solidFill>
                  <a:srgbClr val="B43B13"/>
                </a:solidFill>
                <a:latin typeface="Arial"/>
              </a:rPr>
              <a:t>•  </a:t>
            </a:r>
            <a:r>
              <a:rPr sz="1300">
                <a:solidFill>
                  <a:srgbClr val="252525"/>
                </a:solidFill>
                <a:latin typeface="Arial"/>
              </a:rPr>
              <a:t>L'on-policy first-visit MC control est mal adapté à Grid World, faute d'épisodes complets.</a:t>
            </a:r>
          </a:p>
          <a:p>
            <a:pPr>
              <a:lnSpc>
                <a:spcPct val="108000"/>
              </a:lnSpc>
              <a:spcAft>
                <a:spcPts val="1000"/>
              </a:spcAft>
            </a:pPr>
            <a:r>
              <a:rPr b="1" sz="1300">
                <a:solidFill>
                  <a:srgbClr val="B43B13"/>
                </a:solidFill>
                <a:latin typeface="Arial"/>
              </a:rPr>
              <a:t>•  </a:t>
            </a:r>
            <a:r>
              <a:rPr sz="1300">
                <a:solidFill>
                  <a:srgbClr val="252525"/>
                </a:solidFill>
                <a:latin typeface="Arial"/>
              </a:rPr>
              <a:t>Monte Carlo ES et l'off-policy MC control restent fiables partout, mais MC ES exige de pouvoir se replacer directement dans un état donné.</a:t>
            </a:r>
          </a:p>
          <a:p>
            <a:pPr>
              <a:lnSpc>
                <a:spcPct val="108000"/>
              </a:lnSpc>
              <a:spcAft>
                <a:spcPts val="1000"/>
              </a:spcAft>
            </a:pPr>
            <a:r>
              <a:rPr b="1" sz="1300">
                <a:solidFill>
                  <a:srgbClr val="B43B13"/>
                </a:solidFill>
                <a:latin typeface="Arial"/>
              </a:rPr>
              <a:t>•  </a:t>
            </a:r>
            <a:r>
              <a:rPr sz="1300">
                <a:solidFill>
                  <a:srgbClr val="252525"/>
                </a:solidFill>
                <a:latin typeface="Arial"/>
              </a:rPr>
              <a:t>On assume aussi nos limites : Secret Env 2, avec ses 2 millions d'états, n'est pas résolu avec le budget donné, l'interface graphique des environnements secrets n'est pas encore fournie, et Dyna-Q+ n'a pas été implémenté faute de temps.</a:t>
            </a:r>
          </a:p>
        </p:txBody>
      </p:sp>
      <p:cxnSp>
        <p:nvCxnSpPr>
          <p:cNvPr id="6" name="Connector 5"/>
          <p:cNvCxnSpPr/>
          <p:nvPr/>
        </p:nvCxnSpPr>
        <p:spPr>
          <a:xfrm>
            <a:off x="502920" y="4736592"/>
            <a:ext cx="8138160" cy="0"/>
          </a:xfrm>
          <a:prstGeom prst="line">
            <a:avLst/>
          </a:prstGeom>
          <a:ln w="9525">
            <a:solidFill>
              <a:srgbClr val="B43B13"/>
            </a:solidFill>
          </a:ln>
        </p:spPr>
      </p:cxnSp>
      <p:sp>
        <p:nvSpPr>
          <p:cNvPr id="7" name="TextBox 6"/>
          <p:cNvSpPr txBox="1"/>
          <p:nvPr/>
        </p:nvSpPr>
        <p:spPr>
          <a:xfrm>
            <a:off x="502920" y="4791456"/>
            <a:ext cx="5943600" cy="274320"/>
          </a:xfrm>
          <a:prstGeom prst="rect">
            <a:avLst/>
          </a:prstGeom>
          <a:noFill/>
        </p:spPr>
        <p:txBody>
          <a:bodyPr wrap="square">
            <a:spAutoFit/>
          </a:bodyPr>
          <a:lstStyle/>
          <a:p>
            <a:pPr algn="l">
              <a:lnSpc>
                <a:spcPct val="100000"/>
              </a:lnSpc>
            </a:pPr>
            <a:r>
              <a:rPr sz="800" b="0" i="0">
                <a:solidFill>
                  <a:srgbClr val="8A7E74"/>
                </a:solidFill>
                <a:latin typeface="Arial"/>
              </a:rPr>
              <a:t>Reinforcement Learning · DP, Monte Carlo, TD, Planning</a:t>
            </a:r>
          </a:p>
        </p:txBody>
      </p:sp>
      <p:sp>
        <p:nvSpPr>
          <p:cNvPr id="8" name="TextBox 7"/>
          <p:cNvSpPr txBox="1"/>
          <p:nvPr/>
        </p:nvSpPr>
        <p:spPr>
          <a:xfrm>
            <a:off x="7863840" y="4791456"/>
            <a:ext cx="777240" cy="274320"/>
          </a:xfrm>
          <a:prstGeom prst="rect">
            <a:avLst/>
          </a:prstGeom>
          <a:noFill/>
        </p:spPr>
        <p:txBody>
          <a:bodyPr wrap="square">
            <a:spAutoFit/>
          </a:bodyPr>
          <a:lstStyle/>
          <a:p>
            <a:pPr algn="r">
              <a:lnSpc>
                <a:spcPct val="100000"/>
              </a:lnSpc>
            </a:pPr>
            <a:r>
              <a:rPr sz="800" b="0" i="0">
                <a:solidFill>
                  <a:srgbClr val="8A7E74"/>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B43B13"/>
        </a:solidFill>
        <a:effectLst/>
      </p:bgPr>
    </p:bg>
    <p:spTree>
      <p:nvGrpSpPr>
        <p:cNvPr id="1" name=""/>
        <p:cNvGrpSpPr/>
        <p:nvPr/>
      </p:nvGrpSpPr>
      <p:grpSpPr/>
      <p:sp>
        <p:nvSpPr>
          <p:cNvPr id="2" name="TextBox 1"/>
          <p:cNvSpPr txBox="1"/>
          <p:nvPr/>
        </p:nvSpPr>
        <p:spPr>
          <a:xfrm>
            <a:off x="502920" y="365760"/>
            <a:ext cx="7772400" cy="274320"/>
          </a:xfrm>
          <a:prstGeom prst="rect">
            <a:avLst/>
          </a:prstGeom>
          <a:noFill/>
        </p:spPr>
        <p:txBody>
          <a:bodyPr wrap="square">
            <a:spAutoFit/>
          </a:bodyPr>
          <a:lstStyle/>
          <a:p>
            <a:pPr algn="l">
              <a:lnSpc>
                <a:spcPct val="100000"/>
              </a:lnSpc>
            </a:pPr>
            <a:r>
              <a:rPr sz="1100" b="1" i="0">
                <a:solidFill>
                  <a:srgbClr val="FFFFFF"/>
                </a:solidFill>
                <a:latin typeface="Arial"/>
              </a:rPr>
              <a:t>Démonstration</a:t>
            </a:r>
          </a:p>
        </p:txBody>
      </p:sp>
      <p:sp>
        <p:nvSpPr>
          <p:cNvPr id="3" name="TextBox 2"/>
          <p:cNvSpPr txBox="1"/>
          <p:nvPr/>
        </p:nvSpPr>
        <p:spPr>
          <a:xfrm>
            <a:off x="502920" y="1645920"/>
            <a:ext cx="8138160" cy="1463040"/>
          </a:xfrm>
          <a:prstGeom prst="rect">
            <a:avLst/>
          </a:prstGeom>
          <a:noFill/>
        </p:spPr>
        <p:txBody>
          <a:bodyPr wrap="square">
            <a:spAutoFit/>
          </a:bodyPr>
          <a:lstStyle/>
          <a:p>
            <a:pPr algn="l">
              <a:lnSpc>
                <a:spcPct val="105000"/>
              </a:lnSpc>
            </a:pPr>
            <a:r>
              <a:rPr sz="3800" b="1" i="0">
                <a:solidFill>
                  <a:srgbClr val="FFFFFF"/>
                </a:solidFill>
                <a:latin typeface="Arial"/>
              </a:rPr>
              <a:t>MERCI, </a:t>
            </a:r>
            <a:r>
              <a:rPr sz="3800" b="0" i="1">
                <a:solidFill>
                  <a:srgbClr val="FFFFFF"/>
                </a:solidFill>
                <a:latin typeface="Georgia"/>
              </a:rPr>
              <a:t>des questions ?</a:t>
            </a:r>
          </a:p>
        </p:txBody>
      </p:sp>
      <p:sp>
        <p:nvSpPr>
          <p:cNvPr id="4" name="TextBox 3"/>
          <p:cNvSpPr txBox="1"/>
          <p:nvPr/>
        </p:nvSpPr>
        <p:spPr>
          <a:xfrm>
            <a:off x="502920" y="2880360"/>
            <a:ext cx="8138160" cy="548640"/>
          </a:xfrm>
          <a:prstGeom prst="rect">
            <a:avLst/>
          </a:prstGeom>
          <a:noFill/>
        </p:spPr>
        <p:txBody>
          <a:bodyPr wrap="square">
            <a:spAutoFit/>
          </a:bodyPr>
          <a:lstStyle/>
          <a:p>
            <a:pPr algn="l">
              <a:lnSpc>
                <a:spcPct val="100000"/>
              </a:lnSpc>
            </a:pPr>
            <a:r>
              <a:rPr sz="1500" b="0" i="1">
                <a:solidFill>
                  <a:srgbClr val="FFFFFF"/>
                </a:solidFill>
                <a:latin typeface="Arial"/>
              </a:rPr>
              <a:t>Pour finir, une démonstration en direct : le rejeu pas-à-pas d'une politique déjà entraînée, sans réapprentissage.</a:t>
            </a:r>
          </a:p>
        </p:txBody>
      </p:sp>
      <p:cxnSp>
        <p:nvCxnSpPr>
          <p:cNvPr id="5" name="Connector 4"/>
          <p:cNvCxnSpPr/>
          <p:nvPr/>
        </p:nvCxnSpPr>
        <p:spPr>
          <a:xfrm>
            <a:off x="502920" y="4572000"/>
            <a:ext cx="8138160" cy="0"/>
          </a:xfrm>
          <a:prstGeom prst="line">
            <a:avLst/>
          </a:prstGeom>
          <a:ln w="12700">
            <a:solidFill>
              <a:srgbClr val="FFFFFF"/>
            </a:solidFill>
          </a:ln>
        </p:spPr>
      </p:cxnSp>
      <p:sp>
        <p:nvSpPr>
          <p:cNvPr id="6" name="TextBox 5"/>
          <p:cNvSpPr txBox="1"/>
          <p:nvPr/>
        </p:nvSpPr>
        <p:spPr>
          <a:xfrm>
            <a:off x="502920" y="4645152"/>
            <a:ext cx="5943600" cy="320040"/>
          </a:xfrm>
          <a:prstGeom prst="rect">
            <a:avLst/>
          </a:prstGeom>
          <a:noFill/>
        </p:spPr>
        <p:txBody>
          <a:bodyPr wrap="square">
            <a:spAutoFit/>
          </a:bodyPr>
          <a:lstStyle/>
          <a:p>
            <a:pPr algn="l">
              <a:lnSpc>
                <a:spcPct val="100000"/>
              </a:lnSpc>
            </a:pPr>
            <a:r>
              <a:rPr sz="1000" b="0" i="0">
                <a:solidFill>
                  <a:srgbClr val="FFFFFF"/>
                </a:solidFill>
                <a:latin typeface="Arial"/>
              </a:rPr>
              <a:t>Mohamed Elyes Bahouri · Mathis Te · Olade Mac-Aurel Laourou Babalekon</a:t>
            </a:r>
          </a:p>
        </p:txBody>
      </p:sp>
      <p:sp>
        <p:nvSpPr>
          <p:cNvPr id="7" name="TextBox 6"/>
          <p:cNvSpPr txBox="1"/>
          <p:nvPr/>
        </p:nvSpPr>
        <p:spPr>
          <a:xfrm>
            <a:off x="7315200" y="4645152"/>
            <a:ext cx="1325880" cy="320040"/>
          </a:xfrm>
          <a:prstGeom prst="rect">
            <a:avLst/>
          </a:prstGeom>
          <a:noFill/>
        </p:spPr>
        <p:txBody>
          <a:bodyPr wrap="square">
            <a:spAutoFit/>
          </a:bodyPr>
          <a:lstStyle/>
          <a:p>
            <a:pPr algn="r">
              <a:lnSpc>
                <a:spcPct val="100000"/>
              </a:lnSpc>
            </a:pPr>
            <a:r>
              <a:rPr sz="1000" b="0" i="0">
                <a:solidFill>
                  <a:srgbClr val="FFFFFF"/>
                </a:solidFill>
                <a:latin typeface="Arial"/>
              </a:rPr>
              <a:t>Juillet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